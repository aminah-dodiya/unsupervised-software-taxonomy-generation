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slideLayouts/slideLayout5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  <p:sldMasterId id="2147483667" r:id="rId2"/>
    <p:sldMasterId id="2147483680" r:id="rId3"/>
    <p:sldMasterId id="2147483692" r:id="rId4"/>
    <p:sldMasterId id="2147483655" r:id="rId5"/>
    <p:sldMasterId id="2147483654" r:id="rId6"/>
  </p:sldMasterIdLst>
  <p:notesMasterIdLst>
    <p:notesMasterId r:id="rId22"/>
  </p:notesMasterIdLst>
  <p:sldIdLst>
    <p:sldId id="256" r:id="rId7"/>
    <p:sldId id="258" r:id="rId8"/>
    <p:sldId id="269" r:id="rId9"/>
    <p:sldId id="270" r:id="rId10"/>
    <p:sldId id="259" r:id="rId11"/>
    <p:sldId id="260" r:id="rId12"/>
    <p:sldId id="257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000000"/>
          </p15:clr>
        </p15:guide>
        <p15:guide id="2" orient="horz">
          <p15:clr>
            <a:srgbClr val="000000"/>
          </p15:clr>
        </p15:guide>
        <p15:guide id="3" orient="horz" pos="5">
          <p15:clr>
            <a:srgbClr val="000000"/>
          </p15:clr>
        </p15:guide>
        <p15:guide id="4" orient="horz" pos="4142">
          <p15:clr>
            <a:srgbClr val="000000"/>
          </p15:clr>
        </p15:guide>
        <p15:guide id="5" orient="horz" pos="799">
          <p15:clr>
            <a:srgbClr val="000000"/>
          </p15:clr>
        </p15:guide>
        <p15:guide id="6" orient="horz" pos="3974">
          <p15:clr>
            <a:srgbClr val="000000"/>
          </p15:clr>
        </p15:guide>
        <p15:guide id="7" pos="295">
          <p15:clr>
            <a:srgbClr val="000000"/>
          </p15:clr>
        </p15:guide>
        <p15:guide id="8">
          <p15:clr>
            <a:srgbClr val="000000"/>
          </p15:clr>
        </p15:guide>
        <p15:guide id="9" pos="589">
          <p15:clr>
            <a:srgbClr val="000000"/>
          </p15:clr>
        </p15:guide>
        <p15:guide id="10" pos="5534">
          <p15:clr>
            <a:srgbClr val="000000"/>
          </p15:clr>
        </p15:guide>
        <p15:guide id="11" pos="5352">
          <p15:clr>
            <a:srgbClr val="000000"/>
          </p15:clr>
        </p15:guide>
        <p15:guide id="12" pos="1700">
          <p15:clr>
            <a:srgbClr val="000000"/>
          </p15:clr>
        </p15:guide>
        <p15:guide id="13" pos="5759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72"/>
      </p:cViewPr>
      <p:guideLst>
        <p:guide orient="horz" pos="295"/>
        <p:guide orient="horz"/>
        <p:guide orient="horz" pos="5"/>
        <p:guide orient="horz" pos="4142"/>
        <p:guide orient="horz" pos="799"/>
        <p:guide orient="horz" pos="3974"/>
        <p:guide pos="295"/>
        <p:guide/>
        <p:guide pos="589"/>
        <p:guide pos="5534"/>
        <p:guide pos="5352"/>
        <p:guide pos="1700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" name="Google Shape;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1603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76797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2909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4202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637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phase. This examines all 8 experimental combinations across our 3 </a:t>
            </a:r>
            <a:r>
              <a:rPr lang="en-US" dirty="0" err="1"/>
              <a:t>taget</a:t>
            </a:r>
            <a:r>
              <a:rPr lang="en-US" dirty="0"/>
              <a:t> metrics.</a:t>
            </a:r>
          </a:p>
          <a:p>
            <a:r>
              <a:rPr lang="en-US" dirty="0"/>
              <a:t>3 major system insight standout </a:t>
            </a:r>
          </a:p>
          <a:p>
            <a:r>
              <a:rPr lang="en-US" dirty="0"/>
              <a:t>1 intense blue box; </a:t>
            </a:r>
            <a:r>
              <a:rPr lang="en-US" dirty="0" err="1"/>
              <a:t>humen</a:t>
            </a:r>
            <a:r>
              <a:rPr lang="en-US" dirty="0"/>
              <a:t> -&gt; AI generated text, formatting error spikes 60 &amp; 68 -&gt; (severe error penalty)</a:t>
            </a:r>
          </a:p>
          <a:p>
            <a:r>
              <a:rPr lang="en-US" dirty="0"/>
              <a:t>2 light green block -&gt; verbosity leak (14.4)</a:t>
            </a:r>
          </a:p>
          <a:p>
            <a:r>
              <a:rPr lang="en-US" dirty="0"/>
              <a:t>3 the </a:t>
            </a:r>
            <a:r>
              <a:rPr lang="en-US" dirty="0" err="1"/>
              <a:t>bootom</a:t>
            </a:r>
            <a:r>
              <a:rPr lang="en-US" dirty="0"/>
              <a:t> rows -&gt; </a:t>
            </a:r>
            <a:r>
              <a:rPr lang="en-US" dirty="0" err="1"/>
              <a:t>consistat</a:t>
            </a:r>
            <a:r>
              <a:rPr lang="en-US" dirty="0"/>
              <a:t> color pattern showing superior structure stability</a:t>
            </a:r>
          </a:p>
          <a:p>
            <a:endParaRPr lang="en-US" dirty="0"/>
          </a:p>
          <a:p>
            <a:r>
              <a:rPr lang="en-US" dirty="0"/>
              <a:t>Let’s break these metrics down individually, starting with…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09130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55716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71778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2863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9895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de-DE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450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schwarze Schrift">
  <p:cSld name="Titelfolie schwarze Schrif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0" y="1268413"/>
            <a:ext cx="8785225" cy="5310000"/>
          </a:xfrm>
          <a:custGeom>
            <a:avLst/>
            <a:gdLst/>
            <a:ahLst/>
            <a:cxnLst/>
            <a:rect l="l" t="t" r="r" b="b"/>
            <a:pathLst>
              <a:path w="691" h="418" extrusionOk="0">
                <a:moveTo>
                  <a:pt x="0" y="0"/>
                </a:moveTo>
                <a:lnTo>
                  <a:pt x="673" y="0"/>
                </a:lnTo>
                <a:cubicBezTo>
                  <a:pt x="683" y="0"/>
                  <a:pt x="691" y="9"/>
                  <a:pt x="691" y="19"/>
                </a:cubicBezTo>
                <a:lnTo>
                  <a:pt x="691" y="418"/>
                </a:lnTo>
                <a:lnTo>
                  <a:pt x="0" y="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0" y="6570000"/>
            <a:ext cx="8785225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2698749" y="1808163"/>
            <a:ext cx="5814287" cy="89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68313" y="6569118"/>
            <a:ext cx="671465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31.07.2026</a:t>
            </a:r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1139779" y="6569118"/>
            <a:ext cx="7193060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©  2026  UNIVERSITÄT ROSTOCK | FAKULTÄT FÜR INFORMATIK UND ELEKTROTECHNIK</a:t>
            </a:r>
            <a:endParaRPr dirty="0"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2698750" y="3136896"/>
            <a:ext cx="4708536" cy="30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>
            <a:lvl1pPr marR="0" lvl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0" i="1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 Narrow"/>
              <a:buNone/>
              <a:defRPr sz="28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 Narrow"/>
              <a:buNone/>
              <a:defRPr sz="24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 Narrow"/>
              <a:buNone/>
              <a:defRPr sz="2000" b="0" i="0" u="none" strike="noStrike" cap="none">
                <a:solidFill>
                  <a:srgbClr val="888888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-/Bildfolie Universität">
  <p:cSld name="Text-/Bildfolie Universitä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935038" y="1808163"/>
            <a:ext cx="5207021" cy="41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68313" y="6569118"/>
            <a:ext cx="671465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31.07.2026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1139779" y="6569118"/>
            <a:ext cx="7193060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©  2026  UNIVERSITÄT ROSTOCK | FAKULTÄT FÜR INFORMATIK UND ELEKTROTECHNIK</a:t>
            </a: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332840" y="6569118"/>
            <a:ext cx="452386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35038" y="2844792"/>
            <a:ext cx="5040000" cy="1424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2"/>
          </p:nvPr>
        </p:nvSpPr>
        <p:spPr>
          <a:xfrm>
            <a:off x="935038" y="2443149"/>
            <a:ext cx="5040000" cy="36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2" name="Google Shape;32;p3"/>
          <p:cNvSpPr>
            <a:spLocks noGrp="1"/>
          </p:cNvSpPr>
          <p:nvPr>
            <p:ph type="pic" idx="3"/>
          </p:nvPr>
        </p:nvSpPr>
        <p:spPr>
          <a:xfrm>
            <a:off x="6726267" y="2004993"/>
            <a:ext cx="2205009" cy="1497033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" name="Google Shape;33;p3"/>
          <p:cNvSpPr>
            <a:spLocks noGrp="1"/>
          </p:cNvSpPr>
          <p:nvPr>
            <p:ph type="pic" idx="4"/>
          </p:nvPr>
        </p:nvSpPr>
        <p:spPr>
          <a:xfrm>
            <a:off x="6215085" y="3538540"/>
            <a:ext cx="1643085" cy="2765424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3"/>
          <p:cNvSpPr txBox="1">
            <a:spLocks noGrp="1"/>
          </p:cNvSpPr>
          <p:nvPr>
            <p:ph type="body" idx="5"/>
          </p:nvPr>
        </p:nvSpPr>
        <p:spPr>
          <a:xfrm>
            <a:off x="935037" y="4268799"/>
            <a:ext cx="5040000" cy="2035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85750" algn="l" rtl="0"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9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folie">
  <p:cSld name="Textfoli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>
            <a:spLocks noGrp="1"/>
          </p:cNvSpPr>
          <p:nvPr>
            <p:ph type="title"/>
          </p:nvPr>
        </p:nvSpPr>
        <p:spPr>
          <a:xfrm>
            <a:off x="935038" y="1808163"/>
            <a:ext cx="7578725" cy="38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935038" y="2844792"/>
            <a:ext cx="7578725" cy="345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935038" y="2443149"/>
            <a:ext cx="7578725" cy="36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468313" y="6569118"/>
            <a:ext cx="671465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31.07.2026</a:t>
            </a:r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332840" y="6569118"/>
            <a:ext cx="452386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ftr" idx="11"/>
          </p:nvPr>
        </p:nvSpPr>
        <p:spPr>
          <a:xfrm>
            <a:off x="1139779" y="6569118"/>
            <a:ext cx="7193060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©  2026  UNIVERSITÄT ROSTOCK | FAKULTÄT FÜR INFORMATIK UND ELEKTROTECHNIK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-/Bildfolie">
  <p:cSld name="Text-/Bildfoli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935039" y="1808163"/>
            <a:ext cx="4951430" cy="35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935038" y="2844792"/>
            <a:ext cx="4986354" cy="3459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935038" y="2443149"/>
            <a:ext cx="4986354" cy="36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>
            <a:spLocks noGrp="1"/>
          </p:cNvSpPr>
          <p:nvPr>
            <p:ph type="pic" idx="3"/>
          </p:nvPr>
        </p:nvSpPr>
        <p:spPr>
          <a:xfrm>
            <a:off x="5922981" y="1493811"/>
            <a:ext cx="2862244" cy="4746690"/>
          </a:xfrm>
          <a:prstGeom prst="rect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5"/>
          <p:cNvSpPr txBox="1">
            <a:spLocks noGrp="1"/>
          </p:cNvSpPr>
          <p:nvPr>
            <p:ph type="dt" idx="10"/>
          </p:nvPr>
        </p:nvSpPr>
        <p:spPr>
          <a:xfrm>
            <a:off x="468313" y="6569118"/>
            <a:ext cx="671465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31.07.2026</a:t>
            </a: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8332840" y="6569118"/>
            <a:ext cx="452386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ftr" idx="11"/>
          </p:nvPr>
        </p:nvSpPr>
        <p:spPr>
          <a:xfrm>
            <a:off x="1139779" y="6569118"/>
            <a:ext cx="7193060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©  2026  UNIVERSITÄT ROSTOCK | FAKULTÄT FÜR INFORMATIK UND ELEKTROTECHNIK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E67B9-9BFC-6528-67CF-937238A18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D722304-3D61-3754-80AA-AA80E7827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D9FFFF-B7A9-CFBD-0BC0-F456AF1B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B6DED4-AF0D-C859-742E-039CCA52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F0B1EF-72D9-A37A-BEC6-2FD96FBE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52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7019C3-D56D-F3D2-F2D3-B31D129E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B5DADB-0017-A8D2-F42F-A368B0778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F80298-42CA-9D0C-92D8-DE30B3D9E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6BAD52-6BDC-E88D-93A7-87FE367A7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2B941C-054C-CCCC-8C41-7EA42751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543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DD567D-9F05-4F7C-E1C8-5F401520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0BAA6D9-EB0D-3C38-4D5F-5D4B6EB01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771FCA-D3EA-6803-0ADB-F33EFA2C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71F19B-A111-7AED-D312-10B4AF5F8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348EC9-545F-A643-B198-6F1D48A46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55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E14D31-8E9C-5D57-25B3-CB60810C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3DAE46-AD7D-B560-1DE5-9BAEE6DD1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5399F4-4844-C575-CCE9-FF028DCA3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5165F3-BD8A-3F75-1993-B5EB073B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F91B57-A709-2A54-49DD-D879D64C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015608-4DE2-15B6-390F-14CF944A7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470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14BF17-8D88-448E-FA63-5AB62648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2AE3DA-028C-1FA6-1735-53AC0B07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85B233-35B6-BBF7-744D-5D07C79CD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91D6ED-67DC-EA05-4884-701094D79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CC725BE-44E6-759D-E5BD-23AE73B5A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C7D7602-8FA1-CDBC-3F19-9A9413C1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ED6EA60-CFF4-55B5-F411-6F523432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895FC7-DC92-49A5-71C9-C88E9125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878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7E195-B04E-BC57-CF9F-F856157E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BC545A-7BEB-7429-30D2-8BE71542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FFDB672-EB04-B424-39C4-3C2EACD3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22529DF-96D6-377B-C706-89566EE5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410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B7030B-5F75-C754-6733-BC4BE058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225E986-AB53-714B-4EC3-9FDF4C43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4B69B4-2B07-423D-B636-1534B536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505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267413-8775-A5B5-83B0-FF2217585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91B002-1859-BC01-49CF-2A1B9DA04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962451-02FD-5D28-63BD-12DAB1F0E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BE9637-0EF8-0D69-012A-3BA97AA83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492B78A-1386-C5BF-1AA3-445E165E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9B47DE-BFD2-B6B1-CA61-AB10E422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09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0B20C-321D-B9B3-FCCB-2BA30E99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6E1FD4-6743-91F5-AED1-FA50DA713B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0BD88CE-E516-437D-54B9-41E87173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9655CF-5C86-F44D-4EA8-06339CC2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B8E770-6725-02CD-15E1-2EFC95EC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CE1D69-47EB-ADDB-D48A-B17E8CCC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4240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0160C-398A-2624-42FE-873BD90A8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1058B78-0080-9184-2CCC-AD96BBB02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37EE81-851D-ABEC-8ECE-87227B92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0E45BA-2069-5621-0110-AAABFB37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4F021D-3690-F2A1-E94F-499D246C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755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876A1A2-015A-3CCE-1782-F0C69BCD0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B4A2E90-EF6C-B78A-650B-B5A6B3C84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A0C724-9CB3-F4B5-ADE0-013E33AD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0FEBBE-0104-213D-5761-BEE8FAB9B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A7001F-9096-D885-6C66-018F5DF1B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719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C9074-75A0-5900-546A-03EA1F8E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5228DA3-37E8-30E9-C3A2-E70E5F38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619116-F704-C987-DD70-2F2BE758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DB056F-C62F-3EEE-25E3-AB14A3D9A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81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89F507-7986-1B70-2BA5-61677EADC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1772CEE-6263-4445-66A5-D21546879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E92D9F-AF31-E8F5-DE84-6D6E7BE75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4FFCA3-275E-DF24-030C-B595E8B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6D0F1D-8BA9-279C-CEEA-8B2A6F50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170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37E76-0BF5-809F-097B-51AAC97E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8B44F5-69B6-F065-24BC-826956041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6F638B-FB91-907C-6C2A-7DBF0B2D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A372574-B69E-886C-1744-B0295593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BF9C7A-8E59-E367-FF68-6B34907B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0847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8BFB2-FBB5-91D0-39F8-FCD64340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59B477-3250-3BFA-7AA9-8B0089D73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EE7A42-EAD3-6F81-3A4A-93A54D0F1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36B46E-0012-7174-F60F-37725C5B2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9E4140-A1D3-3D28-B1DA-7D02675C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2023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58B0F-6653-1C7D-CC82-57C45DF3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53B67C-481C-CAF2-9D5C-9400C4DD2B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5473013-2D3F-A07C-A130-A4ED50869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957742-F060-FD6F-17FF-6A7B591E1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8A8D2DF-A49C-DC33-BE5E-621C9926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62EB1D-4891-DF1A-30D7-9E36E7F2C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7059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2482F-BB48-6F98-C49C-091D84F1D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7A83DB-6502-620B-9D9F-993964939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140BAC8-5F08-A54A-C92C-C07A53F81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DB642B4-21CC-5EF3-2F0F-8625A675EB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E32A62E-25BA-8C6D-FA47-783ECAEFB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C8286D7-CE2A-5A6C-A1A1-AE9BE196C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D6A3C4A-9DAD-556B-9D74-9F116697B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8F57DF0-1AA2-38CE-29C8-45CDECDF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5556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B5DEAE-D3AC-C95F-D2CA-E1F75843C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FC491B-9A5E-6536-8ECF-27B6DB71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98EFA74-A67C-E9EA-3464-F477DE0A3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03A570-EE3F-C568-94E7-1E027102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6522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92DA3E-A6C1-0904-1722-A6DE994F6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DDF061-7243-75B2-B13A-3E17F6E58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5FC394-CD0E-E61A-D718-24F2A0AA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7281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ABAE4-3D68-6EA0-C7FD-63302DF9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FECBF6-35CE-E4E6-23AF-CA27FAE9D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7C922E-F975-D741-35C1-C1CFA500B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81C7D7-E523-B745-D217-9E8065BE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CCB608-97C8-0F8E-C2F8-8909607E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A685C6-0D8F-C3FC-2D4B-8BBEB4A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6772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D8DCD6-0271-CEAC-8BB5-B26BBD4F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42597CD-B450-0425-41D9-F8237F219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B9CF6B-FAD2-B75D-47F9-1C9C74CBD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9CD260-B3DB-5C77-B6EE-963611817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CF967A-2F4F-BD5B-BBA8-B698C0AD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5081D0-1602-7C75-FC67-46684C7E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50860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CBC7B5-A804-B403-5D38-2BB216F16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ED1304-4ACC-B1D0-DC5E-44DA3343D8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F5BD7F-2E48-49EE-31DE-BC02F6E34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3929E8-65DB-289E-495E-BD6A4B5B9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35CD3C-8451-5FB4-B009-1BD6F76E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15218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07EEF7D-9357-5E72-3A7D-6F5E929E83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D5BF4E-643E-6AA7-4FEA-B0163E7A0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958754-9BC0-2EDC-712C-19453D56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BCCD83-74F0-B70F-729D-DD73A9DC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97BF69-F901-B17C-5AF1-C504213EB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5186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A6F7F-EB71-ECC2-8117-3BF91AD60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5507D3-5843-09B6-1326-844AF2C6C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291657-15F9-0CD3-ADD1-E1454D91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E54B8-1D7A-D4B2-AB6D-54772F7C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8C12D6-3F09-9E91-986D-3C4880E5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39694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51BC87-38F6-1CDF-B591-FBDEE05E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E19E61-D712-D36E-4D6A-222A65117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8D24CE-24BD-1DA2-3259-6E2062B7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628C6E-93CF-6A33-54A2-74AEB5A8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FB0913-7B0E-0D47-7D2E-ECFE1BD3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74546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AF637D-A4A9-18B4-C746-4D84CA0C7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9C784B-B89E-6F28-CC94-A8280A480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50AAEF-C7A9-A573-2B18-4460CA54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189443-94E5-2F59-7062-F633D23D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96B2A2-6B84-643A-0793-CCFB00CB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3772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800D54-A001-E9B4-DC40-C1D95B1A8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AF9B56-BE6E-DC9B-5067-78A23DEA80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2A8A6D-62E7-2D25-D5C5-E66F99E17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F08457-5081-0A78-AFD8-72E777E0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3620A8-5356-84F9-1FF6-459BA301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099B5D-EA47-7131-4EDB-39E895CE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07786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3A4BF-CE31-ED42-2098-5C604AC1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231A12-A31C-1A8C-ED4F-4AAC6C6EE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0E2E0B-D5E2-260E-5183-15ACFB4C0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0195C05-598C-1A6A-2689-BF3A6BC4F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C7FB7B0-6F6A-3E26-088A-401F0F946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0780990-2B2F-FFF8-24FB-F43B2800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6ADADB4-AD10-D4FC-98F1-5555ACC6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288BEF-9575-749B-827E-E037CC52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749075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8276DD-91F8-1D30-DB57-8D6A2CA63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9505CE-8771-252C-D581-361B73070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5C2A53-B39C-B30D-CE08-40508248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731367-F663-00F7-4344-0B7878E9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71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C021BE-AF46-B9DE-0AFB-E344FF88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D4945A3-2980-2AA2-F119-2B7C4FD7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A521EF-419A-DEED-4458-340D06C0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7546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511ACF-F86C-A492-01A5-7E263E698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9A2085-0F28-79E5-AEFA-20FC8D97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59AFE8-405B-252A-E779-865955770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D69790-B20A-AAAD-815E-16AB833A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B6DAE7-49FC-36FC-79CC-3E39C9FC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482665-4FDA-7A37-7525-6166B203A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4063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5ED6D0-67C6-6DB5-C230-5B9500238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FC14EA-059E-1611-8CDD-25B92F1592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BD22E1-7C57-7D38-3D72-014EE7A57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6D5473-DCC3-18A8-223D-565D423DE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06983B-A0E0-74B7-A1DD-EAF26FB4E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2235B2-50A9-96D9-6504-33F0E7681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7972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B401A1-A97B-D347-6F4B-4E37438C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D67EEA8-C91A-E4AB-E4CB-2D76D3B38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C38EC0-E161-C30A-E98D-85A06F3B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57FEC1-11B7-A19C-789C-5214002F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E4D40-1EBF-72D9-0AC6-029391BD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2636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2911876-F07F-E49C-472A-52F0BF866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87786E-E228-A1E9-30B1-A5A5F2F72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90ED1A-8E48-C8C5-63E5-DF01BD9E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4998EE-9D68-65EA-B921-4821466C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FC62BD-6BC0-B21A-2E9F-895E8BE8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47514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23B677-E4CA-CF5D-38FA-13A96FE6E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65C829-A4B5-A816-D92B-D64A39DF1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A4CD74-560C-F98D-1616-9A5D47AC2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74F820-6636-AFD5-DF03-71D5A635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53274D-13AD-D8DE-6D72-25796BAF3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3094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A94111-C715-2FDD-720E-C05D0C8F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9A8918-EF3D-E6F9-27C5-DAE0CBF8B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0628E7-67C8-8320-A9E3-8B59A336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D9BEDB-7ADC-1604-455B-AF414F76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3EF033-761B-856C-77C6-6AC5C531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90970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B8DCD-5E43-A008-DFD3-598DB482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7F8223-2339-7E87-74D2-B4AF58554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71FE09-6422-4D25-947D-79467393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98CDEA-BF32-0303-472C-830B2F740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7A86E0-F982-DBF6-E2A2-9B4A3368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9205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D89E1A-F077-4262-3CBD-EE170DB90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18C0D7-1ED8-EB9A-E926-4EF55F4B3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E519A1-D2C8-CD58-4C88-B58067B2A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5EE058C-09B4-E770-072B-D92FE656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307B7D-6EB5-1365-E08B-9BC6CD21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DB3E794-6339-9624-52CB-466FD593C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184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B06923-D46A-6115-EE19-4089E2C9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EDE70D-2163-C0B5-D42F-8D769B8F1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DB4A62-5AAF-8E3C-1F5B-9D321D656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C507F9-677D-0655-BF93-E7CC65776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C680ABA-CE2A-0EEA-9DA5-B02A981A1B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DBB51AC-5A35-305D-36A7-A9972808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AFCD2A1-B466-0754-BE84-E6305A3E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55E682F-1549-6168-4403-F8F3540E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662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DDB9B5-0D77-7F3E-0298-6387B74D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6721F6C-DB8C-DF69-6696-4858A837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3D7C49-499C-0ABB-7AE1-06593AF24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764A0B-0320-8D14-5315-9CFDA38C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70889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D9B6D-1F47-2F8C-A28A-C97568E4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E8BA82-C09A-861C-ACDB-AA631CA5C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3E63AA-4113-B3F5-7FD4-2E663CE63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62234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B9AD20-3F57-BCA0-0821-C0E84ED9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FFFA47-C0B4-1C54-38E9-1944142E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D456D2-33F6-7C22-9A12-8C37E0323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103556-8A6D-2059-062D-AADE48BC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D89725-0FB0-DE46-587B-332919FF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3F4B28-128E-3A1D-3836-0C403E82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9268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CB363-3A01-B4FE-AEEA-CBFBB97A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38ED03-D6D4-1277-1E8B-B0E15B3DEA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E0092CC-C54B-F911-2B98-30193F725E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3372476-424F-1EB2-9098-6FF8AF59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176FEB9-C254-9236-3DEE-93808EEC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BFBDEC-6B30-7EE2-B2E2-CD42BE25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5166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134023-C2B3-D9CA-9253-B85749E9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9F9942-4C82-6499-FD26-8F5656C3A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95AC18-1C3D-501D-93FE-F28F431C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DB87F9-D99A-33A7-4D99-39B92646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F3220A-845B-8C06-992D-85E0AD8A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64114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7C8CA84-4CFE-A3FA-F959-04D251E5A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D31904-AE84-A40C-421C-2073D7201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F9B0EC-6646-1CFC-8B83-DC5E4747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79E72-6224-09DB-4C76-A1F4FB83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5C0929-7046-D425-778D-BADB940C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8265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lie für viel Text">
  <p:cSld name="Folie für viel 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468313" y="398421"/>
            <a:ext cx="8316912" cy="4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468313" y="909603"/>
            <a:ext cx="8316912" cy="36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dt" idx="10"/>
          </p:nvPr>
        </p:nvSpPr>
        <p:spPr>
          <a:xfrm>
            <a:off x="2928915" y="6411957"/>
            <a:ext cx="6937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31.07.2026</a:t>
            </a: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ftr" idx="11"/>
          </p:nvPr>
        </p:nvSpPr>
        <p:spPr>
          <a:xfrm>
            <a:off x="3622660" y="6411957"/>
            <a:ext cx="474669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800" rIns="0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de-DE"/>
              <a:t>©  2026  UNIVERSITÄT ROSTOCK | FAKULTÄT FÜR INFORMATIK UND ELEKTROTECHNIK</a:t>
            </a: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223299" y="6411957"/>
            <a:ext cx="5619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00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2"/>
          </p:nvPr>
        </p:nvSpPr>
        <p:spPr>
          <a:xfrm>
            <a:off x="468313" y="1268413"/>
            <a:ext cx="8316912" cy="4899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575425"/>
            <a:ext cx="8785225" cy="287998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935038" y="1808163"/>
            <a:ext cx="7578725" cy="41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68313" y="6569118"/>
            <a:ext cx="671465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de-DE"/>
              <a:t>31.07.2026</a:t>
            </a:r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139779" y="6569118"/>
            <a:ext cx="7193060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de-DE"/>
              <a:t>©  2026  UNIVERSITÄT ROSTOCK | FAKULTÄT FÜR INFORMATIK UND ELEKTROTECHNIK</a:t>
            </a:r>
            <a:endParaRPr lang="de-DE"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332840" y="6569118"/>
            <a:ext cx="452386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 dirty="0"/>
          </a:p>
        </p:txBody>
      </p:sp>
      <p:sp>
        <p:nvSpPr>
          <p:cNvPr id="15" name="Google Shape;15;p1"/>
          <p:cNvSpPr/>
          <p:nvPr/>
        </p:nvSpPr>
        <p:spPr>
          <a:xfrm>
            <a:off x="0" y="1268413"/>
            <a:ext cx="8785225" cy="5310000"/>
          </a:xfrm>
          <a:custGeom>
            <a:avLst/>
            <a:gdLst/>
            <a:ahLst/>
            <a:cxnLst/>
            <a:rect l="l" t="t" r="r" b="b"/>
            <a:pathLst>
              <a:path w="691" h="418" extrusionOk="0">
                <a:moveTo>
                  <a:pt x="0" y="0"/>
                </a:moveTo>
                <a:lnTo>
                  <a:pt x="673" y="0"/>
                </a:lnTo>
                <a:cubicBezTo>
                  <a:pt x="683" y="0"/>
                  <a:pt x="691" y="9"/>
                  <a:pt x="691" y="19"/>
                </a:cubicBezTo>
                <a:lnTo>
                  <a:pt x="691" y="418"/>
                </a:lnTo>
                <a:lnTo>
                  <a:pt x="0" y="418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" name="Google Shape;16;p1" descr="UNI-Logo_Siegel_4c_89mm_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313" y="325395"/>
            <a:ext cx="3204000" cy="658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 descr="01-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64388" y="225425"/>
            <a:ext cx="1619250" cy="7366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B46A4C7-50DE-6BC7-FE28-7B6641E5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037C6D-02AF-B27F-E527-EBBC3CBCF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594DC2-646D-3AC9-D2A2-D2A7DCEC47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786E8C-26A3-752E-751F-EF2F30B4A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715566-5943-0861-6472-9B578736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94B81-6FBA-419B-A0FC-14934FD32C4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10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C6DCE77-10B4-ADCE-8717-C67DAAD2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22FF53-0FE3-D361-2A17-F9ED4C25E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5279ED-24B9-94A5-52D6-A80B3387F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A0E568-3133-A882-BE2C-41B4E5B988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07349D-9A56-3881-C7A1-96D1F35ED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26995F-1A81-471D-A7B2-492C61AB33C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480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BCFDFF0-F153-B22F-2203-F6F3D8D8D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05AA64-5687-16DB-0C80-908DD7236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D305EF-0849-9340-91E2-4051BB001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A687AA-5BDC-2FCE-977C-842BC4258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1B357B-BBF4-38AE-2417-BC44167D5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7922C-C3A9-4AA8-846D-AEB5ABBF2E0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430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B70D3AE-35A2-C5B2-7512-DDF42988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925302-1B75-7CD6-6052-765B4AB4A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073D52-43FA-3C31-4491-69E73C839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31.07.2026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F2BC58-36F1-111C-5F93-82AE02E81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1ED2C-BCCD-4348-F407-58AB7270A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23C03-1BE6-43DD-8847-A9A8F8B7E32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61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 descr="UNI-Logo_Siegel_4c_149m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01" y="6248196"/>
            <a:ext cx="2632687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2819375" y="6296818"/>
            <a:ext cx="5965850" cy="557213"/>
          </a:xfrm>
          <a:custGeom>
            <a:avLst/>
            <a:gdLst/>
            <a:ahLst/>
            <a:cxnLst/>
            <a:rect l="l" t="t" r="r" b="b"/>
            <a:pathLst>
              <a:path w="4428" h="729" extrusionOk="0">
                <a:moveTo>
                  <a:pt x="0" y="0"/>
                </a:moveTo>
                <a:lnTo>
                  <a:pt x="4363" y="0"/>
                </a:lnTo>
                <a:lnTo>
                  <a:pt x="4376" y="2"/>
                </a:lnTo>
                <a:lnTo>
                  <a:pt x="4389" y="6"/>
                </a:lnTo>
                <a:lnTo>
                  <a:pt x="4400" y="13"/>
                </a:lnTo>
                <a:lnTo>
                  <a:pt x="4409" y="21"/>
                </a:lnTo>
                <a:lnTo>
                  <a:pt x="4417" y="30"/>
                </a:lnTo>
                <a:lnTo>
                  <a:pt x="4424" y="41"/>
                </a:lnTo>
                <a:lnTo>
                  <a:pt x="4428" y="54"/>
                </a:lnTo>
                <a:lnTo>
                  <a:pt x="4428" y="67"/>
                </a:lnTo>
                <a:lnTo>
                  <a:pt x="4428" y="729"/>
                </a:lnTo>
                <a:lnTo>
                  <a:pt x="0" y="72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" name="Google Shape;53;p6"/>
          <p:cNvSpPr txBox="1">
            <a:spLocks noGrp="1"/>
          </p:cNvSpPr>
          <p:nvPr>
            <p:ph type="title"/>
          </p:nvPr>
        </p:nvSpPr>
        <p:spPr>
          <a:xfrm>
            <a:off x="468313" y="468313"/>
            <a:ext cx="8316912" cy="401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dt" idx="10"/>
          </p:nvPr>
        </p:nvSpPr>
        <p:spPr>
          <a:xfrm>
            <a:off x="2928915" y="6411957"/>
            <a:ext cx="6937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de-DE"/>
              <a:t>31.07.2026</a:t>
            </a:r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ftr" idx="11"/>
          </p:nvPr>
        </p:nvSpPr>
        <p:spPr>
          <a:xfrm>
            <a:off x="3622660" y="6429461"/>
            <a:ext cx="4746691" cy="24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de-DE"/>
              <a:t>©  2026  UNIVERSITÄT ROSTOCK | FAKULTÄT FÜR INFORMATIK UND ELEKTROTECHNIK</a:t>
            </a: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sldNum" idx="12"/>
          </p:nvPr>
        </p:nvSpPr>
        <p:spPr>
          <a:xfrm>
            <a:off x="8296327" y="6411957"/>
            <a:ext cx="488898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ctrTitle"/>
          </p:nvPr>
        </p:nvSpPr>
        <p:spPr>
          <a:xfrm>
            <a:off x="468313" y="1808163"/>
            <a:ext cx="8394333" cy="117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LLM-based Generation of Product Classifications</a:t>
            </a:r>
            <a:br>
              <a:rPr lang="de-DE" sz="3200" dirty="0">
                <a:latin typeface="+mn-lt"/>
              </a:rPr>
            </a:br>
            <a:br>
              <a:rPr lang="de-DE" sz="3200" dirty="0">
                <a:latin typeface="+mn-lt"/>
              </a:rPr>
            </a:br>
            <a:br>
              <a:rPr lang="de-DE" sz="3200" dirty="0">
                <a:latin typeface="+mn-lt"/>
              </a:rPr>
            </a:br>
            <a:endParaRPr sz="3200" dirty="0">
              <a:latin typeface="+mn-lt"/>
            </a:endParaRPr>
          </a:p>
        </p:txBody>
      </p:sp>
      <p:sp>
        <p:nvSpPr>
          <p:cNvPr id="71" name="Google Shape;71;p8"/>
          <p:cNvSpPr txBox="1">
            <a:spLocks noGrp="1"/>
          </p:cNvSpPr>
          <p:nvPr>
            <p:ph type="subTitle" idx="1"/>
          </p:nvPr>
        </p:nvSpPr>
        <p:spPr>
          <a:xfrm>
            <a:off x="666176" y="4445308"/>
            <a:ext cx="5650218" cy="94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</a:pPr>
            <a:r>
              <a:rPr lang="en-US" sz="2000" i="0" dirty="0">
                <a:latin typeface="+mn-lt"/>
              </a:rPr>
              <a:t>Presented by: </a:t>
            </a:r>
            <a:r>
              <a:rPr lang="en-US" sz="2000" b="1" i="0" dirty="0">
                <a:latin typeface="+mn-lt"/>
              </a:rPr>
              <a:t>Aminah Dodiya</a:t>
            </a:r>
          </a:p>
          <a:p>
            <a:pPr lvl="0">
              <a:spcBef>
                <a:spcPts val="0"/>
              </a:spcBef>
            </a:pPr>
            <a:r>
              <a:rPr lang="en-US" sz="2000" i="0" dirty="0">
                <a:latin typeface="+mn-lt"/>
              </a:rPr>
              <a:t>Supervised by: </a:t>
            </a:r>
            <a:r>
              <a:rPr lang="en-US" sz="2000" b="1" i="0" dirty="0">
                <a:latin typeface="+mn-lt"/>
              </a:rPr>
              <a:t>Prof. Dr.-Ing. Kurt </a:t>
            </a:r>
            <a:r>
              <a:rPr lang="en-US" sz="2000" b="1" i="0" dirty="0" err="1">
                <a:latin typeface="+mn-lt"/>
              </a:rPr>
              <a:t>Sandkuhl</a:t>
            </a:r>
            <a:endParaRPr lang="en-US" sz="2000" b="1" i="0" dirty="0">
              <a:latin typeface="+mn-lt"/>
            </a:endParaRPr>
          </a:p>
          <a:p>
            <a:pPr lvl="0">
              <a:spcBef>
                <a:spcPts val="0"/>
              </a:spcBef>
            </a:pPr>
            <a:r>
              <a:rPr lang="en-US" sz="2000" i="0" dirty="0">
                <a:latin typeface="+mn-lt"/>
              </a:rPr>
              <a:t>Course: </a:t>
            </a:r>
            <a:r>
              <a:rPr lang="de-DE" sz="2000" b="1" i="0" dirty="0" err="1">
                <a:latin typeface="+mn-lt"/>
              </a:rPr>
              <a:t>Applications</a:t>
            </a:r>
            <a:r>
              <a:rPr lang="de-DE" sz="2000" b="1" i="0" dirty="0">
                <a:latin typeface="+mn-lt"/>
              </a:rPr>
              <a:t> of Enterprise Modeling</a:t>
            </a:r>
            <a:endParaRPr sz="2000" b="1" i="0" dirty="0">
              <a:latin typeface="+mn-lt"/>
            </a:endParaRPr>
          </a:p>
        </p:txBody>
      </p:sp>
      <p:sp>
        <p:nvSpPr>
          <p:cNvPr id="2" name="Google Shape;68;p8">
            <a:extLst>
              <a:ext uri="{FF2B5EF4-FFF2-40B4-BE49-F238E27FC236}">
                <a16:creationId xmlns:a16="http://schemas.microsoft.com/office/drawing/2014/main" id="{E4F83C74-77B7-6D58-8D7A-4686F0B9681E}"/>
              </a:ext>
            </a:extLst>
          </p:cNvPr>
          <p:cNvSpPr txBox="1">
            <a:spLocks/>
          </p:cNvSpPr>
          <p:nvPr/>
        </p:nvSpPr>
        <p:spPr>
          <a:xfrm>
            <a:off x="374833" y="3126735"/>
            <a:ext cx="8394333" cy="117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algn="ctr"/>
            <a:r>
              <a:rPr lang="en-US" sz="2800" dirty="0">
                <a:latin typeface="+mn-lt"/>
              </a:rPr>
              <a:t>An Empirical Design Science Study on Unsupervised Taxonomy Generation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D4DE521-65DB-568F-96D3-5320FAC71E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CF90CC-168B-B17B-EC46-ED779F25C3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D2BB36-1F02-1E8F-714F-70D1752C0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045" y="1716881"/>
            <a:ext cx="5207021" cy="415908"/>
          </a:xfrm>
        </p:spPr>
        <p:txBody>
          <a:bodyPr/>
          <a:lstStyle/>
          <a:p>
            <a:r>
              <a:rPr lang="de-DE" sz="2400" dirty="0">
                <a:latin typeface="+mn-lt"/>
              </a:rPr>
              <a:t>Human </a:t>
            </a:r>
            <a:r>
              <a:rPr lang="de-DE" sz="2400" dirty="0" err="1">
                <a:latin typeface="+mn-lt"/>
              </a:rPr>
              <a:t>vs</a:t>
            </a:r>
            <a:r>
              <a:rPr lang="de-DE" sz="2400" dirty="0">
                <a:latin typeface="+mn-lt"/>
              </a:rPr>
              <a:t> </a:t>
            </a:r>
            <a:r>
              <a:rPr lang="de-DE" sz="2400" dirty="0" err="1">
                <a:latin typeface="+mn-lt"/>
              </a:rPr>
              <a:t>Machine</a:t>
            </a:r>
            <a:endParaRPr lang="de-DE" sz="2400" dirty="0">
              <a:latin typeface="+mn-lt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12AA794-39D1-2004-F2F9-F1366B0282FC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887554" y="3846768"/>
            <a:ext cx="7721873" cy="2035164"/>
          </a:xfrm>
        </p:spPr>
        <p:txBody>
          <a:bodyPr/>
          <a:lstStyle/>
          <a:p>
            <a:r>
              <a:rPr lang="de-DE" b="1" dirty="0">
                <a:latin typeface="+mn-lt"/>
              </a:rPr>
              <a:t>Sub‑Questions</a:t>
            </a:r>
          </a:p>
          <a:p>
            <a:pPr lvl="0"/>
            <a:r>
              <a:rPr lang="de-DE" b="1" dirty="0">
                <a:latin typeface="+mn-lt"/>
              </a:rPr>
              <a:t>RQ1:</a:t>
            </a:r>
            <a:r>
              <a:rPr lang="de-DE" dirty="0">
                <a:latin typeface="+mn-lt"/>
              </a:rPr>
              <a:t> Does Chain‑of‑</a:t>
            </a:r>
            <a:r>
              <a:rPr lang="de-DE" dirty="0" err="1">
                <a:latin typeface="+mn-lt"/>
              </a:rPr>
              <a:t>Thought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reasoning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improve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classification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quality</a:t>
            </a:r>
            <a:r>
              <a:rPr lang="de-DE" dirty="0">
                <a:latin typeface="+mn-lt"/>
              </a:rPr>
              <a:t>?</a:t>
            </a:r>
          </a:p>
          <a:p>
            <a:pPr lvl="0"/>
            <a:r>
              <a:rPr lang="de-DE" b="1" dirty="0">
                <a:latin typeface="+mn-lt"/>
              </a:rPr>
              <a:t>RQ2:</a:t>
            </a:r>
            <a:r>
              <a:rPr lang="de-DE" dirty="0">
                <a:latin typeface="+mn-lt"/>
              </a:rPr>
              <a:t> Does </a:t>
            </a:r>
            <a:r>
              <a:rPr lang="de-DE" dirty="0" err="1">
                <a:latin typeface="+mn-lt"/>
              </a:rPr>
              <a:t>synthetic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product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text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reduce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extraction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accuracy</a:t>
            </a:r>
            <a:r>
              <a:rPr lang="de-DE" dirty="0">
                <a:latin typeface="+mn-lt"/>
              </a:rPr>
              <a:t> and </a:t>
            </a:r>
            <a:r>
              <a:rPr lang="de-DE" dirty="0" err="1">
                <a:latin typeface="+mn-lt"/>
              </a:rPr>
              <a:t>schema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adherence</a:t>
            </a:r>
            <a:r>
              <a:rPr lang="de-DE" dirty="0">
                <a:latin typeface="+mn-lt"/>
              </a:rPr>
              <a:t>?</a:t>
            </a:r>
          </a:p>
          <a:p>
            <a:pPr lvl="0"/>
            <a:r>
              <a:rPr lang="de-DE" b="1" dirty="0">
                <a:latin typeface="+mn-lt"/>
              </a:rPr>
              <a:t>RQ3: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Which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model</a:t>
            </a:r>
            <a:r>
              <a:rPr lang="de-DE" dirty="0">
                <a:latin typeface="+mn-lt"/>
              </a:rPr>
              <a:t>–prompt </a:t>
            </a:r>
            <a:r>
              <a:rPr lang="de-DE" dirty="0" err="1">
                <a:latin typeface="+mn-lt"/>
              </a:rPr>
              <a:t>combination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produces</a:t>
            </a:r>
            <a:r>
              <a:rPr lang="de-DE" dirty="0">
                <a:latin typeface="+mn-lt"/>
              </a:rPr>
              <a:t> the </a:t>
            </a:r>
            <a:r>
              <a:rPr lang="de-DE" dirty="0" err="1">
                <a:latin typeface="+mn-lt"/>
              </a:rPr>
              <a:t>most</a:t>
            </a:r>
            <a:r>
              <a:rPr lang="de-DE" dirty="0">
                <a:latin typeface="+mn-lt"/>
              </a:rPr>
              <a:t> reliable </a:t>
            </a:r>
            <a:r>
              <a:rPr lang="de-DE" dirty="0" err="1">
                <a:latin typeface="+mn-lt"/>
              </a:rPr>
              <a:t>taxonomy</a:t>
            </a:r>
            <a:r>
              <a:rPr lang="de-DE" dirty="0">
                <a:latin typeface="+mn-lt"/>
              </a:rPr>
              <a:t>?</a:t>
            </a:r>
          </a:p>
          <a:p>
            <a:endParaRPr lang="de-DE" dirty="0">
              <a:latin typeface="+mn-lt"/>
            </a:endParaRP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F1951E15-6E48-61CC-77A2-31693DC4DC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  <a:endParaRPr lang="de-DE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C7FD712C-87CD-9169-E897-1ABBA4B982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 dirty="0"/>
              <a:t>©  2026  UNIVERSITÄT ROSTOCK | FAKULTÄT FÜR INFORMATIK UND ELEKTROTECHNIK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5429B79-FC74-6CAA-C695-EE74C55CED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89AD11-F28F-1AEB-FA93-B1B0BC0C3C8E}"/>
              </a:ext>
            </a:extLst>
          </p:cNvPr>
          <p:cNvSpPr txBox="1">
            <a:spLocks/>
          </p:cNvSpPr>
          <p:nvPr/>
        </p:nvSpPr>
        <p:spPr>
          <a:xfrm>
            <a:off x="804045" y="2233635"/>
            <a:ext cx="7298945" cy="133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9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114300" indent="0" algn="just">
              <a:buNone/>
            </a:pPr>
            <a:r>
              <a:rPr lang="de-DE" sz="2000" b="1" dirty="0">
                <a:latin typeface="+mn-lt"/>
              </a:rPr>
              <a:t>Can Large Language Models </a:t>
            </a:r>
            <a:r>
              <a:rPr lang="de-DE" sz="2000" b="1" dirty="0" err="1">
                <a:latin typeface="+mn-lt"/>
              </a:rPr>
              <a:t>reliably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generate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product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classifications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when</a:t>
            </a:r>
            <a:r>
              <a:rPr lang="de-DE" sz="2000" b="1" dirty="0">
                <a:latin typeface="+mn-lt"/>
              </a:rPr>
              <a:t> the </a:t>
            </a:r>
            <a:r>
              <a:rPr lang="de-DE" sz="2000" b="1" dirty="0" err="1">
                <a:latin typeface="+mn-lt"/>
              </a:rPr>
              <a:t>input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descriptions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vary</a:t>
            </a:r>
            <a:r>
              <a:rPr lang="de-DE" sz="2000" b="1" dirty="0">
                <a:latin typeface="+mn-lt"/>
              </a:rPr>
              <a:t> in </a:t>
            </a:r>
            <a:r>
              <a:rPr lang="de-DE" sz="2000" b="1" dirty="0" err="1">
                <a:latin typeface="+mn-lt"/>
              </a:rPr>
              <a:t>quality</a:t>
            </a:r>
            <a:r>
              <a:rPr lang="de-DE" sz="2000" b="1" dirty="0">
                <a:latin typeface="+mn-lt"/>
              </a:rPr>
              <a:t>, </a:t>
            </a:r>
            <a:r>
              <a:rPr lang="de-DE" sz="2000" b="1" dirty="0" err="1">
                <a:latin typeface="+mn-lt"/>
              </a:rPr>
              <a:t>origin</a:t>
            </a:r>
            <a:r>
              <a:rPr lang="de-DE" sz="2000" b="1" dirty="0">
                <a:latin typeface="+mn-lt"/>
              </a:rPr>
              <a:t>, and </a:t>
            </a:r>
            <a:r>
              <a:rPr lang="de-DE" sz="2000" b="1" dirty="0" err="1">
                <a:latin typeface="+mn-lt"/>
              </a:rPr>
              <a:t>structure</a:t>
            </a:r>
            <a:r>
              <a:rPr lang="de-DE" sz="2000" b="1" dirty="0">
                <a:latin typeface="+mn-lt"/>
              </a:rPr>
              <a:t>; and </a:t>
            </a:r>
            <a:r>
              <a:rPr lang="de-DE" sz="2000" b="1" dirty="0" err="1">
                <a:latin typeface="+mn-lt"/>
              </a:rPr>
              <a:t>how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does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performance</a:t>
            </a:r>
            <a:r>
              <a:rPr lang="de-DE" sz="2000" b="1" dirty="0">
                <a:latin typeface="+mn-lt"/>
              </a:rPr>
              <a:t> change </a:t>
            </a:r>
            <a:r>
              <a:rPr lang="de-DE" sz="2000" b="1" dirty="0" err="1">
                <a:latin typeface="+mn-lt"/>
              </a:rPr>
              <a:t>when</a:t>
            </a:r>
            <a:r>
              <a:rPr lang="de-DE" sz="2000" b="1" dirty="0">
                <a:latin typeface="+mn-lt"/>
              </a:rPr>
              <a:t> the </a:t>
            </a:r>
            <a:r>
              <a:rPr lang="de-DE" sz="2000" b="1" dirty="0" err="1">
                <a:latin typeface="+mn-lt"/>
              </a:rPr>
              <a:t>text</a:t>
            </a:r>
            <a:r>
              <a:rPr lang="de-DE" sz="2000" b="1" dirty="0">
                <a:latin typeface="+mn-lt"/>
              </a:rPr>
              <a:t> </a:t>
            </a:r>
            <a:r>
              <a:rPr lang="de-DE" sz="2000" b="1" dirty="0" err="1">
                <a:latin typeface="+mn-lt"/>
              </a:rPr>
              <a:t>is</a:t>
            </a:r>
            <a:r>
              <a:rPr lang="de-DE" sz="2000" b="1" dirty="0">
                <a:latin typeface="+mn-lt"/>
              </a:rPr>
              <a:t> human‑</a:t>
            </a:r>
            <a:r>
              <a:rPr lang="de-DE" sz="2000" b="1" dirty="0" err="1">
                <a:latin typeface="+mn-lt"/>
              </a:rPr>
              <a:t>written</a:t>
            </a:r>
            <a:r>
              <a:rPr lang="de-DE" sz="2000" b="1" dirty="0">
                <a:latin typeface="+mn-lt"/>
              </a:rPr>
              <a:t> versus LLM‑generated?</a:t>
            </a:r>
            <a:endParaRPr lang="de-DE" sz="2000" dirty="0">
              <a:latin typeface="+mn-lt"/>
            </a:endParaRPr>
          </a:p>
          <a:p>
            <a:pPr marL="114300" indent="0">
              <a:buNone/>
            </a:pPr>
            <a:endParaRPr lang="de-DE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9391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113324-CF8B-E229-486B-B169AD7E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15" y="1498674"/>
            <a:ext cx="7578725" cy="38733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Why the B2B Software Domain Matters</a:t>
            </a:r>
            <a:endParaRPr lang="de-DE" sz="2400" dirty="0">
              <a:latin typeface="+mn-lt"/>
            </a:endParaRP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601ECEE-CFF9-4EFE-320D-CA5C456D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16EDC01-1297-2AA7-842B-8EA0D7F971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08FB384-F008-8EBC-7B97-7D65E36123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2FF9F5F5-B71B-2B1D-F7DE-8A3C58F8FDB2}"/>
              </a:ext>
            </a:extLst>
          </p:cNvPr>
          <p:cNvSpPr/>
          <p:nvPr/>
        </p:nvSpPr>
        <p:spPr>
          <a:xfrm>
            <a:off x="327637" y="2314356"/>
            <a:ext cx="4023360" cy="3516923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0F172A"/>
                </a:solidFill>
              </a:defRPr>
            </a:pPr>
            <a:r>
              <a:rPr dirty="0"/>
              <a:t>The Domain Dilemma</a:t>
            </a:r>
          </a:p>
          <a:p>
            <a:pPr algn="just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 dirty="0"/>
              <a:t>Key Takeaway: High-velocity evolution challenges traditional taxonomy frameworks.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No Predefined Blueprint: No static, </a:t>
            </a:r>
            <a:r>
              <a:rPr lang="en-US" dirty="0"/>
              <a:t>    </a:t>
            </a:r>
            <a:r>
              <a:rPr dirty="0"/>
              <a:t>permanent taxonomy can exist for B2B SaaS.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Rapid Mutation: Products undergo continuous feature creep and category convergence daily.</a:t>
            </a:r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80FFE75C-5040-2E79-1B3B-064E5FCF26FD}"/>
              </a:ext>
            </a:extLst>
          </p:cNvPr>
          <p:cNvSpPr/>
          <p:nvPr/>
        </p:nvSpPr>
        <p:spPr>
          <a:xfrm>
            <a:off x="4572000" y="2314356"/>
            <a:ext cx="4023360" cy="3516923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0F172A"/>
                </a:solidFill>
              </a:defRPr>
            </a:pPr>
            <a:r>
              <a:rPr dirty="0"/>
              <a:t>The Scientific Opportunity</a:t>
            </a:r>
          </a:p>
          <a:p>
            <a:pPr algn="just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 dirty="0"/>
              <a:t>Key Takeaway: Enterprise SaaS is the ultimate stress test for dynamic extraction.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The Novelty Anchor: Directly satisfies the research requirement for an unclassified, dynamic domain.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The Robustness Stress Test: Provides the ultimate environment to evaluate how LLM schemas adapt to hybrid edge cases.</a:t>
            </a:r>
          </a:p>
        </p:txBody>
      </p:sp>
    </p:spTree>
    <p:extLst>
      <p:ext uri="{BB962C8B-B14F-4D97-AF65-F5344CB8AC3E}">
        <p14:creationId xmlns:p14="http://schemas.microsoft.com/office/powerpoint/2010/main" val="52600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270370-2F46-EA76-07A1-3A8F4EAF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893" y="1512742"/>
            <a:ext cx="7578725" cy="387333"/>
          </a:xfrm>
        </p:spPr>
        <p:txBody>
          <a:bodyPr/>
          <a:lstStyle/>
          <a:p>
            <a:r>
              <a:rPr lang="de-DE" sz="2400" dirty="0" err="1">
                <a:latin typeface="+mn-lt"/>
              </a:rPr>
              <a:t>Semantic</a:t>
            </a:r>
            <a:r>
              <a:rPr lang="de-DE" sz="2400" dirty="0">
                <a:latin typeface="+mn-lt"/>
              </a:rPr>
              <a:t> </a:t>
            </a:r>
            <a:r>
              <a:rPr lang="de-DE" sz="2400" dirty="0" err="1">
                <a:latin typeface="+mn-lt"/>
              </a:rPr>
              <a:t>Ambiguity</a:t>
            </a:r>
            <a:r>
              <a:rPr lang="de-DE" sz="2400" dirty="0">
                <a:latin typeface="+mn-lt"/>
              </a:rPr>
              <a:t> Problem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637353-361A-6F4A-ABF3-C16578B8A42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24C909-2DAE-BE0B-F56F-B57FAC9FCF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8A8FF86-757A-C584-8872-E5BEBF8B0E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6058C3A-147C-55FE-AEEA-102D183F2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93" y="2813538"/>
            <a:ext cx="7911496" cy="3538519"/>
          </a:xfrm>
          <a:prstGeom prst="rect">
            <a:avLst/>
          </a:prstGeom>
        </p:spPr>
      </p:pic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52036631-1487-C475-6FBF-E3BC27B8C1D9}"/>
              </a:ext>
            </a:extLst>
          </p:cNvPr>
          <p:cNvSpPr txBox="1">
            <a:spLocks/>
          </p:cNvSpPr>
          <p:nvPr/>
        </p:nvSpPr>
        <p:spPr>
          <a:xfrm>
            <a:off x="626893" y="2035228"/>
            <a:ext cx="7298945" cy="1339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9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4A99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Char char="»"/>
              <a:defRPr sz="18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pPr marL="114300" indent="0">
              <a:buNone/>
            </a:pPr>
            <a:r>
              <a:rPr lang="en-US" b="1" dirty="0">
                <a:latin typeface="+mn-lt"/>
              </a:rPr>
              <a:t>Why traditional keyword matching fails to categorize the high-velocity B2B SaaS marketplace effectively</a:t>
            </a:r>
            <a:endParaRPr lang="de-DE" b="1" dirty="0">
              <a:latin typeface="+mn-lt"/>
            </a:endParaRPr>
          </a:p>
          <a:p>
            <a:pPr marL="114300" indent="0">
              <a:buNone/>
            </a:pPr>
            <a:endParaRPr lang="de-DE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3679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ECAA74-3318-F154-26E5-6ACC1A55A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14" y="1517056"/>
            <a:ext cx="7578725" cy="387333"/>
          </a:xfrm>
        </p:spPr>
        <p:txBody>
          <a:bodyPr/>
          <a:lstStyle/>
          <a:p>
            <a:r>
              <a:rPr lang="de-DE" sz="2400" dirty="0" err="1">
                <a:latin typeface="+mn-lt"/>
              </a:rPr>
              <a:t>Presentation</a:t>
            </a:r>
            <a:r>
              <a:rPr lang="de-DE" sz="2400" dirty="0">
                <a:latin typeface="+mn-lt"/>
              </a:rPr>
              <a:t> Roadmap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CE219B-EDF4-7C39-BAC7-827EEB336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113" y="2253949"/>
            <a:ext cx="7578725" cy="3459171"/>
          </a:xfrm>
        </p:spPr>
        <p:txBody>
          <a:bodyPr/>
          <a:lstStyle/>
          <a:p>
            <a:pPr marL="5143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WHY: Domain </a:t>
            </a:r>
            <a:r>
              <a:rPr lang="de-DE" dirty="0" err="1">
                <a:latin typeface="+mn-lt"/>
              </a:rPr>
              <a:t>drift</a:t>
            </a:r>
            <a:r>
              <a:rPr lang="de-DE" dirty="0">
                <a:latin typeface="+mn-lt"/>
              </a:rPr>
              <a:t> and Motivation</a:t>
            </a:r>
          </a:p>
          <a:p>
            <a:pPr marL="5143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WHAT: </a:t>
            </a:r>
            <a:r>
              <a:rPr lang="en-US" dirty="0">
                <a:latin typeface="+mn-lt"/>
              </a:rPr>
              <a:t>Theoretical Framework &amp; Literature Review</a:t>
            </a:r>
            <a:endParaRPr lang="de-DE" dirty="0">
              <a:latin typeface="+mn-lt"/>
            </a:endParaRPr>
          </a:p>
          <a:p>
            <a:pPr marL="5143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HOW: </a:t>
            </a:r>
            <a:r>
              <a:rPr lang="en-US" dirty="0">
                <a:latin typeface="+mn-lt"/>
              </a:rPr>
              <a:t>Engineering the Pipeline &amp; Visual Data Analysis</a:t>
            </a:r>
          </a:p>
          <a:p>
            <a:pPr marL="5143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WHAT IF: </a:t>
            </a:r>
            <a:r>
              <a:rPr lang="de-DE" dirty="0" err="1">
                <a:latin typeface="+mn-lt"/>
              </a:rPr>
              <a:t>Deployment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architecture</a:t>
            </a:r>
            <a:r>
              <a:rPr lang="de-DE" dirty="0">
                <a:latin typeface="+mn-lt"/>
              </a:rPr>
              <a:t> + Future </a:t>
            </a:r>
            <a:r>
              <a:rPr lang="de-DE" dirty="0" err="1">
                <a:latin typeface="+mn-lt"/>
              </a:rPr>
              <a:t>scope</a:t>
            </a:r>
            <a:endParaRPr lang="de-DE" dirty="0">
              <a:latin typeface="+mn-lt"/>
            </a:endParaRPr>
          </a:p>
          <a:p>
            <a:endParaRPr lang="de-DE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E90882A9-00AF-6BDA-C6CE-824DA76BA9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DF90B9E-461B-6D60-392B-86D4C0C1B5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 dirty="0"/>
              <a:t>©  2026  UNIVERSITÄT ROSTOCK | FAKULTÄT FÜR INFORMATIK UND ELEKTROTECHNIK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8044868-6EC0-190D-55A9-01089B9A9A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237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23F7E-88C8-A246-EBDC-CC3D150B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7" y="1470538"/>
            <a:ext cx="7951055" cy="387333"/>
          </a:xfrm>
        </p:spPr>
        <p:txBody>
          <a:bodyPr/>
          <a:lstStyle/>
          <a:p>
            <a:r>
              <a:rPr lang="de-DE" sz="2400" b="1" dirty="0" err="1">
                <a:latin typeface="+mn-lt"/>
              </a:rPr>
              <a:t>Theoretical</a:t>
            </a:r>
            <a:r>
              <a:rPr lang="de-DE" sz="2400" b="1" dirty="0">
                <a:latin typeface="+mn-lt"/>
              </a:rPr>
              <a:t> Foundations </a:t>
            </a:r>
            <a:endParaRPr lang="de-DE" sz="2400" dirty="0">
              <a:latin typeface="+mn-lt"/>
            </a:endParaRP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471292C4-B123-D1F5-7E93-3D5FB1224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488446"/>
              </p:ext>
            </p:extLst>
          </p:nvPr>
        </p:nvGraphicFramePr>
        <p:xfrm>
          <a:off x="562708" y="1953087"/>
          <a:ext cx="7770131" cy="4555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010">
                  <a:extLst>
                    <a:ext uri="{9D8B030D-6E8A-4147-A177-3AD203B41FA5}">
                      <a16:colId xmlns:a16="http://schemas.microsoft.com/office/drawing/2014/main" val="2447033592"/>
                    </a:ext>
                  </a:extLst>
                </a:gridCol>
                <a:gridCol w="2226356">
                  <a:extLst>
                    <a:ext uri="{9D8B030D-6E8A-4147-A177-3AD203B41FA5}">
                      <a16:colId xmlns:a16="http://schemas.microsoft.com/office/drawing/2014/main" val="1951085057"/>
                    </a:ext>
                  </a:extLst>
                </a:gridCol>
                <a:gridCol w="3700765">
                  <a:extLst>
                    <a:ext uri="{9D8B030D-6E8A-4147-A177-3AD203B41FA5}">
                      <a16:colId xmlns:a16="http://schemas.microsoft.com/office/drawing/2014/main" val="1195105676"/>
                    </a:ext>
                  </a:extLst>
                </a:gridCol>
              </a:tblGrid>
              <a:tr h="5529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1" dirty="0">
                          <a:effectLst/>
                          <a:latin typeface="+mn-lt"/>
                        </a:rPr>
                        <a:t>Author &amp; Year</a:t>
                      </a:r>
                      <a:endParaRPr lang="de-DE" sz="1800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sz="1800" b="1" dirty="0">
                          <a:effectLst/>
                          <a:latin typeface="+mn-lt"/>
                        </a:rPr>
                        <a:t>Core Focus</a:t>
                      </a:r>
                      <a:endParaRPr lang="de-DE" sz="1800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effectLst/>
                          <a:latin typeface="+mn-lt"/>
                        </a:rPr>
                        <a:t>Key Finding </a:t>
                      </a:r>
                      <a:endParaRPr lang="de-DE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85201"/>
                  </a:ext>
                </a:extLst>
              </a:tr>
              <a:tr h="9021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b="1" dirty="0">
                          <a:effectLst/>
                          <a:latin typeface="+mn-lt"/>
                        </a:rPr>
                        <a:t>Nickerson et al. (2013)</a:t>
                      </a:r>
                      <a:endParaRPr lang="de-DE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dirty="0" err="1">
                          <a:effectLst/>
                          <a:latin typeface="+mn-lt"/>
                        </a:rPr>
                        <a:t>Taxonomy</a:t>
                      </a:r>
                      <a:r>
                        <a:rPr lang="de-DE" dirty="0">
                          <a:effectLst/>
                          <a:latin typeface="+mn-lt"/>
                        </a:rPr>
                        <a:t> Development Method</a:t>
                      </a: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dirty="0" err="1">
                          <a:effectLst/>
                          <a:latin typeface="+mn-lt"/>
                        </a:rPr>
                        <a:t>Defines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b="1" dirty="0">
                          <a:effectLst/>
                          <a:latin typeface="+mn-lt"/>
                        </a:rPr>
                        <a:t>Mutual </a:t>
                      </a:r>
                      <a:r>
                        <a:rPr lang="de-DE" b="1" dirty="0" err="1">
                          <a:effectLst/>
                          <a:latin typeface="+mn-lt"/>
                        </a:rPr>
                        <a:t>Exclusivity</a:t>
                      </a:r>
                      <a:r>
                        <a:rPr lang="de-DE" b="1" dirty="0">
                          <a:effectLst/>
                          <a:latin typeface="+mn-lt"/>
                        </a:rPr>
                        <a:t> (ME)</a:t>
                      </a:r>
                      <a:r>
                        <a:rPr lang="de-DE" dirty="0">
                          <a:effectLst/>
                          <a:latin typeface="+mn-lt"/>
                        </a:rPr>
                        <a:t> and </a:t>
                      </a:r>
                      <a:r>
                        <a:rPr lang="de-DE" b="1" dirty="0">
                          <a:effectLst/>
                          <a:latin typeface="+mn-lt"/>
                        </a:rPr>
                        <a:t>Collective </a:t>
                      </a:r>
                      <a:r>
                        <a:rPr lang="de-DE" b="1" dirty="0" err="1">
                          <a:effectLst/>
                          <a:latin typeface="+mn-lt"/>
                        </a:rPr>
                        <a:t>Exhaustiveness</a:t>
                      </a:r>
                      <a:r>
                        <a:rPr lang="de-DE" b="1" dirty="0">
                          <a:effectLst/>
                          <a:latin typeface="+mn-lt"/>
                        </a:rPr>
                        <a:t> (CE)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grounded</a:t>
                      </a:r>
                      <a:r>
                        <a:rPr lang="de-DE" dirty="0">
                          <a:effectLst/>
                          <a:latin typeface="+mn-lt"/>
                        </a:rPr>
                        <a:t> in a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clear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i="1" dirty="0">
                          <a:effectLst/>
                          <a:latin typeface="+mn-lt"/>
                        </a:rPr>
                        <a:t>Meta-</a:t>
                      </a:r>
                      <a:r>
                        <a:rPr lang="de-DE" i="1" dirty="0" err="1">
                          <a:effectLst/>
                          <a:latin typeface="+mn-lt"/>
                        </a:rPr>
                        <a:t>Characteristic</a:t>
                      </a:r>
                      <a:r>
                        <a:rPr lang="de-DE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772217"/>
                  </a:ext>
                </a:extLst>
              </a:tr>
              <a:tr h="9021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b="1" dirty="0">
                          <a:effectLst/>
                          <a:latin typeface="+mn-lt"/>
                        </a:rPr>
                        <a:t>Gao et al. (2023)</a:t>
                      </a:r>
                      <a:endParaRPr lang="de-DE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dirty="0">
                          <a:effectLst/>
                          <a:latin typeface="+mn-lt"/>
                        </a:rPr>
                        <a:t>LLM Schema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Adherence</a:t>
                      </a:r>
                      <a:endParaRPr lang="de-DE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dirty="0" err="1">
                          <a:effectLst/>
                          <a:latin typeface="+mn-lt"/>
                        </a:rPr>
                        <a:t>Demonstrates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that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complex</a:t>
                      </a:r>
                      <a:r>
                        <a:rPr lang="de-DE" dirty="0">
                          <a:effectLst/>
                          <a:latin typeface="+mn-lt"/>
                        </a:rPr>
                        <a:t> prompt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instructions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degrade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under</a:t>
                      </a:r>
                      <a:r>
                        <a:rPr lang="de-DE" dirty="0">
                          <a:effectLst/>
                          <a:latin typeface="+mn-lt"/>
                        </a:rPr>
                        <a:t> low-parameter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or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high-speed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hardware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backends</a:t>
                      </a:r>
                      <a:r>
                        <a:rPr lang="de-DE" dirty="0">
                          <a:effectLst/>
                          <a:latin typeface="+mn-lt"/>
                        </a:rPr>
                        <a:t>.</a:t>
                      </a: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067149"/>
                  </a:ext>
                </a:extLst>
              </a:tr>
              <a:tr h="11059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b="1" dirty="0">
                          <a:effectLst/>
                          <a:latin typeface="+mn-lt"/>
                        </a:rPr>
                        <a:t>Wei et al. (2022)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de-DE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dirty="0">
                          <a:effectLst/>
                          <a:latin typeface="+mn-lt"/>
                        </a:rPr>
                        <a:t>Chain-of-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Thought</a:t>
                      </a:r>
                      <a:r>
                        <a:rPr lang="de-DE" dirty="0">
                          <a:effectLst/>
                          <a:latin typeface="+mn-lt"/>
                        </a:rPr>
                        <a:t> &amp;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Formatting</a:t>
                      </a:r>
                      <a:endParaRPr lang="de-DE" dirty="0">
                        <a:effectLst/>
                        <a:latin typeface="+mn-lt"/>
                      </a:endParaRP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de-DE" dirty="0" err="1">
                          <a:effectLst/>
                          <a:latin typeface="+mn-lt"/>
                        </a:rPr>
                        <a:t>Proves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that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encouraging</a:t>
                      </a:r>
                      <a:r>
                        <a:rPr lang="de-DE" dirty="0">
                          <a:effectLst/>
                          <a:latin typeface="+mn-lt"/>
                        </a:rPr>
                        <a:t> step-by-step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reasoning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significantly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improves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logical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accuracy</a:t>
                      </a:r>
                      <a:r>
                        <a:rPr lang="de-DE" dirty="0">
                          <a:effectLst/>
                          <a:latin typeface="+mn-lt"/>
                        </a:rPr>
                        <a:t> and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token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generation</a:t>
                      </a:r>
                      <a:r>
                        <a:rPr lang="de-DE" dirty="0">
                          <a:effectLst/>
                          <a:latin typeface="+mn-lt"/>
                        </a:rPr>
                        <a:t>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depth</a:t>
                      </a:r>
                      <a:r>
                        <a:rPr lang="de-DE" dirty="0">
                          <a:effectLst/>
                          <a:latin typeface="+mn-lt"/>
                        </a:rPr>
                        <a:t> in </a:t>
                      </a:r>
                      <a:r>
                        <a:rPr lang="de-DE" dirty="0" err="1">
                          <a:effectLst/>
                          <a:latin typeface="+mn-lt"/>
                        </a:rPr>
                        <a:t>scaled</a:t>
                      </a:r>
                      <a:r>
                        <a:rPr lang="de-DE" dirty="0">
                          <a:effectLst/>
                          <a:latin typeface="+mn-lt"/>
                        </a:rPr>
                        <a:t> LLM.</a:t>
                      </a:r>
                    </a:p>
                    <a:p>
                      <a:endParaRPr lang="de-D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900668"/>
                  </a:ext>
                </a:extLst>
              </a:tr>
              <a:tr h="9281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de-DE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de-DE" b="1" dirty="0"/>
                        <a:t>Manning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Semantic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Compression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Anomalies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de-DE" dirty="0" err="1"/>
                        <a:t>Proves</a:t>
                      </a:r>
                      <a:r>
                        <a:rPr lang="de-DE" dirty="0"/>
                        <a:t> rapid LLM </a:t>
                      </a:r>
                      <a:r>
                        <a:rPr lang="de-DE" dirty="0" err="1"/>
                        <a:t>summarization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causes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detail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loss</a:t>
                      </a:r>
                      <a:r>
                        <a:rPr lang="de-DE" dirty="0"/>
                        <a:t>; </a:t>
                      </a:r>
                      <a:r>
                        <a:rPr lang="de-DE" dirty="0" err="1"/>
                        <a:t>explains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extraction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degradation</a:t>
                      </a:r>
                      <a:r>
                        <a:rPr lang="de-DE" dirty="0"/>
                        <a:t> on </a:t>
                      </a:r>
                      <a:r>
                        <a:rPr lang="de-DE" dirty="0" err="1"/>
                        <a:t>synthetic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text</a:t>
                      </a:r>
                      <a:r>
                        <a:rPr lang="de-DE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566696"/>
                  </a:ext>
                </a:extLst>
              </a:tr>
            </a:tbl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17184D9-DF5C-9CAB-A86F-5375F1D2E8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F5EE386-1FFC-4F0B-C4D8-E536A14882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D423F37-4E87-3042-F157-2A75409BCB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204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804045" y="1390839"/>
            <a:ext cx="6444716" cy="32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de-DE" sz="2400" dirty="0" err="1">
                <a:latin typeface="+mn-lt"/>
              </a:rPr>
              <a:t>Methodological</a:t>
            </a:r>
            <a:r>
              <a:rPr lang="de-DE" sz="2400" dirty="0">
                <a:latin typeface="+mn-lt"/>
              </a:rPr>
              <a:t> Design &amp; Data Engine</a:t>
            </a:r>
            <a:endParaRPr sz="2400" dirty="0">
              <a:latin typeface="+mn-lt"/>
            </a:endParaRPr>
          </a:p>
        </p:txBody>
      </p:sp>
      <p:sp>
        <p:nvSpPr>
          <p:cNvPr id="77" name="Google Shape;77;p9"/>
          <p:cNvSpPr txBox="1">
            <a:spLocks noGrp="1"/>
          </p:cNvSpPr>
          <p:nvPr>
            <p:ph type="dt" idx="10"/>
          </p:nvPr>
        </p:nvSpPr>
        <p:spPr>
          <a:xfrm>
            <a:off x="468313" y="6569118"/>
            <a:ext cx="671465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31.07.2026</a:t>
            </a:r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ftr" idx="11"/>
          </p:nvPr>
        </p:nvSpPr>
        <p:spPr>
          <a:xfrm>
            <a:off x="1139779" y="6569118"/>
            <a:ext cx="7193060" cy="288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©  2026  UNIVERSITÄT ROSTOCK | FAKULTÄT FÜR INFORMATIK UND ELEKTROTECHNIK</a:t>
            </a:r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1"/>
          </p:nvPr>
        </p:nvSpPr>
        <p:spPr>
          <a:xfrm>
            <a:off x="804045" y="2107580"/>
            <a:ext cx="7763180" cy="2861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de-DE" sz="2000" dirty="0">
                <a:latin typeface="+mn-lt"/>
              </a:rPr>
              <a:t>Data: 5 </a:t>
            </a:r>
            <a:r>
              <a:rPr lang="de-DE" sz="2000" dirty="0" err="1">
                <a:latin typeface="+mn-lt"/>
              </a:rPr>
              <a:t>handwritten</a:t>
            </a:r>
            <a:r>
              <a:rPr lang="de-DE" sz="2000" dirty="0">
                <a:latin typeface="+mn-lt"/>
              </a:rPr>
              <a:t> expert </a:t>
            </a:r>
            <a:r>
              <a:rPr lang="de-DE" sz="2000" dirty="0" err="1">
                <a:latin typeface="+mn-lt"/>
              </a:rPr>
              <a:t>seeds</a:t>
            </a:r>
            <a:r>
              <a:rPr lang="de-DE" sz="2000" dirty="0">
                <a:latin typeface="+mn-lt"/>
              </a:rPr>
              <a:t> + 25 </a:t>
            </a:r>
            <a:r>
              <a:rPr lang="de-DE" sz="2000" dirty="0" err="1">
                <a:latin typeface="+mn-lt"/>
              </a:rPr>
              <a:t>synthetic</a:t>
            </a:r>
            <a:r>
              <a:rPr lang="de-DE" sz="2000" dirty="0">
                <a:latin typeface="+mn-lt"/>
              </a:rPr>
              <a:t> LLM </a:t>
            </a:r>
            <a:r>
              <a:rPr lang="de-DE" sz="2000" dirty="0" err="1">
                <a:latin typeface="+mn-lt"/>
              </a:rPr>
              <a:t>profiles</a:t>
            </a:r>
            <a:endParaRPr lang="de-DE" sz="2000" dirty="0">
              <a:latin typeface="+mn-lt"/>
            </a:endParaRP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de-DE" sz="2000" dirty="0">
                <a:latin typeface="+mn-lt"/>
              </a:rPr>
              <a:t>Prompts: Prompt A vs. Prompt B </a:t>
            </a:r>
          </a:p>
          <a:p>
            <a:pPr marL="228600" lvl="0" indent="0"/>
            <a:r>
              <a:rPr lang="de-DE" sz="2000" dirty="0">
                <a:latin typeface="+mn-lt"/>
              </a:rPr>
              <a:t>	         (</a:t>
            </a:r>
            <a:r>
              <a:rPr lang="de-DE" sz="2000" dirty="0" err="1">
                <a:latin typeface="+mn-lt"/>
              </a:rPr>
              <a:t>Direct</a:t>
            </a:r>
            <a:r>
              <a:rPr lang="de-DE" sz="2000" dirty="0">
                <a:latin typeface="+mn-lt"/>
              </a:rPr>
              <a:t> JSON) vs. (</a:t>
            </a:r>
            <a:r>
              <a:rPr lang="de-DE" sz="2000" dirty="0" err="1">
                <a:latin typeface="+mn-lt"/>
              </a:rPr>
              <a:t>CoT</a:t>
            </a:r>
            <a:r>
              <a:rPr lang="de-DE" sz="2000" dirty="0">
                <a:latin typeface="+mn-lt"/>
              </a:rPr>
              <a:t> Reason-First)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de-DE" sz="2000" dirty="0">
                <a:latin typeface="+mn-lt"/>
              </a:rPr>
              <a:t>Models: OpenAI vs. </a:t>
            </a:r>
            <a:r>
              <a:rPr lang="de-DE" sz="2000" dirty="0" err="1">
                <a:latin typeface="+mn-lt"/>
              </a:rPr>
              <a:t>Groq</a:t>
            </a:r>
            <a:r>
              <a:rPr lang="de-DE" sz="2000" dirty="0">
                <a:latin typeface="+mn-lt"/>
              </a:rPr>
              <a:t> </a:t>
            </a:r>
          </a:p>
          <a:p>
            <a:pPr marL="228600" lvl="0" indent="0"/>
            <a:r>
              <a:rPr lang="de-DE" sz="2000" dirty="0">
                <a:latin typeface="+mn-lt"/>
              </a:rPr>
              <a:t>	       (gpt‑4.1‑mini) vs. (llama‑3.3‑70b‑versatile)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de-DE" sz="2000" dirty="0" err="1">
                <a:latin typeface="+mn-lt"/>
              </a:rPr>
              <a:t>Temperature</a:t>
            </a:r>
            <a:r>
              <a:rPr lang="de-DE" sz="2000" dirty="0">
                <a:latin typeface="+mn-lt"/>
              </a:rPr>
              <a:t> = 0.0</a:t>
            </a:r>
          </a:p>
          <a:p>
            <a:pPr marL="514350" lvl="0" indent="-285750">
              <a:buFont typeface="Arial" panose="020B0604020202020204" pitchFamily="34" charset="0"/>
              <a:buChar char="•"/>
            </a:pPr>
            <a:r>
              <a:rPr lang="de-DE" sz="2000" dirty="0">
                <a:latin typeface="+mn-lt"/>
              </a:rPr>
              <a:t>Output </a:t>
            </a:r>
            <a:r>
              <a:rPr lang="de-DE" sz="2000" dirty="0" err="1">
                <a:latin typeface="+mn-lt"/>
              </a:rPr>
              <a:t>Buckets</a:t>
            </a:r>
            <a:r>
              <a:rPr lang="de-DE" sz="2000" dirty="0">
                <a:latin typeface="+mn-lt"/>
              </a:rPr>
              <a:t>: CRM/</a:t>
            </a:r>
            <a:r>
              <a:rPr lang="de-DE" sz="2000" dirty="0" err="1">
                <a:latin typeface="+mn-lt"/>
              </a:rPr>
              <a:t>Ops</a:t>
            </a:r>
            <a:r>
              <a:rPr lang="de-DE" sz="2000" dirty="0">
                <a:latin typeface="+mn-lt"/>
              </a:rPr>
              <a:t>, </a:t>
            </a:r>
            <a:r>
              <a:rPr lang="de-DE" sz="2000" dirty="0" err="1">
                <a:latin typeface="+mn-lt"/>
              </a:rPr>
              <a:t>Collaboration</a:t>
            </a:r>
            <a:r>
              <a:rPr lang="de-DE" sz="2000" dirty="0">
                <a:latin typeface="+mn-lt"/>
              </a:rPr>
              <a:t>/IT, DevOps/Data, Infrastructure/Security, ERP/HR, FinTech/Billing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lang="en-US" sz="2000" dirty="0">
              <a:latin typeface="+mn-l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endParaRPr sz="2000" dirty="0">
              <a:latin typeface="+mn-lt"/>
            </a:endParaRP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2E7ED90F-05DE-ABC5-833D-D91D90B3827A}"/>
              </a:ext>
            </a:extLst>
          </p:cNvPr>
          <p:cNvSpPr/>
          <p:nvPr/>
        </p:nvSpPr>
        <p:spPr>
          <a:xfrm>
            <a:off x="1631852" y="5122677"/>
            <a:ext cx="5880295" cy="777240"/>
          </a:xfrm>
          <a:prstGeom prst="roundRect">
            <a:avLst/>
          </a:prstGeom>
          <a:solidFill>
            <a:srgbClr val="EEF2F7"/>
          </a:solidFill>
          <a:ln>
            <a:solidFill>
              <a:srgbClr val="CC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5316408-D578-B81A-0521-167DDBBCC404}"/>
              </a:ext>
            </a:extLst>
          </p:cNvPr>
          <p:cNvSpPr txBox="1"/>
          <p:nvPr/>
        </p:nvSpPr>
        <p:spPr>
          <a:xfrm>
            <a:off x="-395655" y="5357408"/>
            <a:ext cx="9935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Arial"/>
              </a:defRPr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</a:t>
            </a:r>
            <a:r>
              <a:rPr lang="de-DE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ingestion</a:t>
            </a:r>
            <a:r>
              <a:rPr lang="de-D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LLM ]</a:t>
            </a:r>
            <a:r>
              <a:rPr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normalization ]</a:t>
            </a:r>
            <a:r>
              <a:rPr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 metrics ]</a:t>
            </a:r>
            <a:endParaRPr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D0970C-97F5-7CA6-EADD-991325DA3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9C3C74-E91B-3458-5E7F-6B50DE99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2" y="1442403"/>
            <a:ext cx="8024203" cy="387333"/>
          </a:xfrm>
        </p:spPr>
        <p:txBody>
          <a:bodyPr/>
          <a:lstStyle/>
          <a:p>
            <a:r>
              <a:rPr lang="de-DE" sz="2400" dirty="0" err="1">
                <a:latin typeface="+mn-lt"/>
              </a:rPr>
              <a:t>Empirical</a:t>
            </a:r>
            <a:r>
              <a:rPr lang="de-DE" sz="2400" dirty="0">
                <a:latin typeface="+mn-lt"/>
              </a:rPr>
              <a:t> Benchmark: </a:t>
            </a:r>
            <a:r>
              <a:rPr lang="de-DE" sz="2400" dirty="0" err="1">
                <a:latin typeface="+mn-lt"/>
              </a:rPr>
              <a:t>Comprehensive</a:t>
            </a:r>
            <a:r>
              <a:rPr lang="de-DE" sz="2400" dirty="0">
                <a:latin typeface="+mn-lt"/>
              </a:rPr>
              <a:t> Model Performance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C9424A-451C-59EE-E99D-52E67B430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00" y="1964720"/>
            <a:ext cx="7235482" cy="4604398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D4E53F55-9169-B13E-5AB3-85AE10B467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78CA746-67A2-29EB-62FC-7EF347E498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07324DB-7CFD-5DE1-DFE2-7B4422E94C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269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71E31-A01E-53E6-955B-57CBC544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3" y="1512026"/>
            <a:ext cx="8616413" cy="387333"/>
          </a:xfrm>
        </p:spPr>
        <p:txBody>
          <a:bodyPr/>
          <a:lstStyle/>
          <a:p>
            <a:r>
              <a:rPr lang="de-DE" sz="2400" dirty="0">
                <a:latin typeface="+mn-lt"/>
              </a:rPr>
              <a:t>Collective </a:t>
            </a:r>
            <a:r>
              <a:rPr lang="de-DE" sz="2400" dirty="0" err="1">
                <a:latin typeface="+mn-lt"/>
              </a:rPr>
              <a:t>Exhaustiveness</a:t>
            </a:r>
            <a:r>
              <a:rPr lang="de-DE" sz="2400" dirty="0">
                <a:latin typeface="+mn-lt"/>
              </a:rPr>
              <a:t> Under Stress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8583084-D94F-A9B6-0715-904F7D30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3" y="1899359"/>
            <a:ext cx="7308167" cy="4384900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1DD230F-B1AA-DB88-C9C6-2B396239F0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59B39BB-0D8C-1C63-BFAF-FCDA1AD979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66DA73DE-1D59-EA17-24CA-49C9A21AE4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485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77685-1829-BCA2-8E3A-B1EC7AB7B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15" y="1428336"/>
            <a:ext cx="7578725" cy="38733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Word Count Analysis: Measuring Semantic Bloat</a:t>
            </a:r>
            <a:endParaRPr lang="de-DE" sz="2400" dirty="0">
              <a:latin typeface="+mn-lt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A3BDD8D-467B-BFB1-1991-413C2FFEE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6" y="1815669"/>
            <a:ext cx="7441808" cy="4465085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897635F6-D42F-653A-734A-B028FA758A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E0AD9481-24E9-A171-FAB6-2EBE86A9EA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494E86-A233-ADB2-D432-F61050CD95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43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D3785-4A67-E501-F93C-3AC353277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81" y="1456472"/>
            <a:ext cx="9144000" cy="38733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Mapping the Pareto Frontier: Omission vs. Length</a:t>
            </a:r>
            <a:endParaRPr lang="de-DE" sz="2400" dirty="0">
              <a:latin typeface="+mn-lt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E934680-3BD0-3039-ECD2-6904DF52F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852" y="2019321"/>
            <a:ext cx="6561421" cy="4374281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583EA7A-522A-6535-9AEA-6B1028E2D6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32116A4-442A-8F89-4CA8-4772BE7325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61071AD-6EC4-920C-8C68-4793E706C1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173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BF0DF-3D26-28D8-BA59-D8D4E155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114" y="1534181"/>
            <a:ext cx="7578725" cy="387333"/>
          </a:xfrm>
        </p:spPr>
        <p:txBody>
          <a:bodyPr/>
          <a:lstStyle/>
          <a:p>
            <a:r>
              <a:rPr lang="en-US" sz="2400" dirty="0">
                <a:latin typeface="+mn-lt"/>
              </a:rPr>
              <a:t>What If We Deploy This Tomorrow? </a:t>
            </a:r>
            <a:endParaRPr lang="de-DE" sz="2400" dirty="0">
              <a:latin typeface="+mn-lt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3686F15E-F0CE-90E4-55A8-D9CD57E39505}"/>
              </a:ext>
            </a:extLst>
          </p:cNvPr>
          <p:cNvSpPr/>
          <p:nvPr/>
        </p:nvSpPr>
        <p:spPr>
          <a:xfrm>
            <a:off x="372840" y="2908492"/>
            <a:ext cx="4058530" cy="324963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0F172A"/>
                </a:solidFill>
              </a:defRPr>
            </a:pPr>
            <a:r>
              <a:rPr sz="1600" dirty="0"/>
              <a:t>Route 1: Production </a:t>
            </a:r>
            <a:r>
              <a:rPr sz="1600" dirty="0" err="1"/>
              <a:t>Datatags</a:t>
            </a:r>
            <a:endParaRPr sz="1600" dirty="0"/>
          </a:p>
          <a:p>
            <a:pPr algn="just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 sz="1200" dirty="0"/>
              <a:t>Key Takeaway: Fast, concise, database-compliant.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Stack: Prompt A (Direct) + compact instruction models.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Focus: High parsimony, zero narrative bloat, strict schema adherence.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65EEDD67-8150-23ED-8BDE-26004C7F0781}"/>
              </a:ext>
            </a:extLst>
          </p:cNvPr>
          <p:cNvSpPr/>
          <p:nvPr/>
        </p:nvSpPr>
        <p:spPr>
          <a:xfrm>
            <a:off x="4572000" y="2908492"/>
            <a:ext cx="4058529" cy="3249637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0F172A"/>
                </a:solidFill>
              </a:defRPr>
            </a:pPr>
            <a:r>
              <a:rPr sz="1600" dirty="0"/>
              <a:t>Route 2: Exploratory Discovery</a:t>
            </a:r>
          </a:p>
          <a:p>
            <a:pPr algn="just">
              <a:spcAft>
                <a:spcPts val="1000"/>
              </a:spcAft>
              <a:defRPr sz="1200" b="1">
                <a:solidFill>
                  <a:srgbClr val="2563EB"/>
                </a:solidFill>
              </a:defRPr>
            </a:pPr>
            <a:r>
              <a:rPr dirty="0"/>
              <a:t>Key Takeaway: Deep extraction for R&amp;D.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Stack: Prompt B (</a:t>
            </a:r>
            <a:r>
              <a:rPr dirty="0" err="1"/>
              <a:t>CoT</a:t>
            </a:r>
            <a:r>
              <a:rPr dirty="0"/>
              <a:t>) + flagship open-source / proprietary models.</a:t>
            </a:r>
          </a:p>
          <a:p>
            <a:pPr algn="just"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rPr dirty="0"/>
              <a:t>• Focus: Rich feature discovery and evidence logging at the cost of higher length.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5427CAF3-B2C4-46AA-8785-D736690E7EFB}"/>
              </a:ext>
            </a:extLst>
          </p:cNvPr>
          <p:cNvSpPr txBox="1">
            <a:spLocks/>
          </p:cNvSpPr>
          <p:nvPr/>
        </p:nvSpPr>
        <p:spPr>
          <a:xfrm>
            <a:off x="754115" y="2357120"/>
            <a:ext cx="7578725" cy="36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Narrow"/>
              <a:buNone/>
              <a:defRPr sz="18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Narrow"/>
              <a:buNone/>
              <a:defRPr sz="12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 Narrow"/>
              <a:buNone/>
              <a:defRPr sz="10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 Narrow"/>
              <a:buNone/>
              <a:defRPr sz="9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r>
              <a:rPr lang="en-US" dirty="0">
                <a:latin typeface="+mn-lt"/>
              </a:rPr>
              <a:t>Dual-Route Architecture</a:t>
            </a:r>
            <a:endParaRPr lang="de-DE" dirty="0">
              <a:latin typeface="+mn-lt"/>
            </a:endParaRP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F4E0B8A9-6B1D-AD7B-D3C3-79A86B75DB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231E86AE-B802-651A-026E-2E006EFEAE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A28350B0-B97E-F944-03AF-4745DBAAEB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234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772FB1-6729-1602-F080-9BBA9B66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210" y="1540877"/>
            <a:ext cx="7578725" cy="387333"/>
          </a:xfrm>
        </p:spPr>
        <p:txBody>
          <a:bodyPr/>
          <a:lstStyle/>
          <a:p>
            <a:r>
              <a:rPr lang="de-DE" sz="2400" dirty="0" err="1">
                <a:latin typeface="+mn-lt"/>
              </a:rPr>
              <a:t>Limitations</a:t>
            </a:r>
            <a:r>
              <a:rPr lang="de-DE" sz="2400" dirty="0">
                <a:latin typeface="+mn-lt"/>
              </a:rPr>
              <a:t> &amp; Future Work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DF393E-43E8-E419-5DF8-A88339CAC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2307103"/>
            <a:ext cx="7958553" cy="3518560"/>
          </a:xfrm>
        </p:spPr>
        <p:txBody>
          <a:bodyPr/>
          <a:lstStyle/>
          <a:p>
            <a:pPr marL="228600" indent="0"/>
            <a:r>
              <a:rPr lang="en-US" b="1" u="sng" dirty="0">
                <a:latin typeface="+mn-lt"/>
              </a:rPr>
              <a:t>1. Project limitation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de-DE" dirty="0">
                <a:latin typeface="+mn-lt"/>
              </a:rPr>
              <a:t>Current </a:t>
            </a:r>
            <a:r>
              <a:rPr lang="de-DE" dirty="0" err="1">
                <a:latin typeface="+mn-lt"/>
              </a:rPr>
              <a:t>results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are</a:t>
            </a:r>
            <a:r>
              <a:rPr lang="de-DE" dirty="0">
                <a:latin typeface="+mn-lt"/>
              </a:rPr>
              <a:t> limited to a </a:t>
            </a:r>
            <a:r>
              <a:rPr lang="de-DE" dirty="0" err="1">
                <a:latin typeface="+mn-lt"/>
              </a:rPr>
              <a:t>test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batch</a:t>
            </a:r>
            <a:r>
              <a:rPr lang="de-DE" dirty="0">
                <a:latin typeface="+mn-lt"/>
              </a:rPr>
              <a:t> of 30 B2B </a:t>
            </a:r>
            <a:r>
              <a:rPr lang="de-DE" dirty="0" err="1">
                <a:latin typeface="+mn-lt"/>
              </a:rPr>
              <a:t>software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profiles</a:t>
            </a:r>
            <a:r>
              <a:rPr lang="de-DE" dirty="0">
                <a:latin typeface="+mn-lt"/>
              </a:rPr>
              <a:t>; </a:t>
            </a:r>
            <a:r>
              <a:rPr lang="de-DE" dirty="0" err="1">
                <a:latin typeface="+mn-lt"/>
              </a:rPr>
              <a:t>broader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testing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is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required</a:t>
            </a:r>
            <a:r>
              <a:rPr lang="de-DE" dirty="0">
                <a:latin typeface="+mn-lt"/>
              </a:rPr>
              <a:t>.</a:t>
            </a:r>
          </a:p>
          <a:p>
            <a:pPr marL="228600" indent="0"/>
            <a:endParaRPr lang="de-DE" dirty="0">
              <a:latin typeface="+mn-lt"/>
            </a:endParaRPr>
          </a:p>
          <a:p>
            <a:pPr marL="228600" indent="0"/>
            <a:r>
              <a:rPr lang="de-DE" b="1" u="sng" dirty="0">
                <a:latin typeface="+mn-lt"/>
              </a:rPr>
              <a:t>2. Future Scope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800" b="1" dirty="0" err="1">
                <a:latin typeface="+mn-lt"/>
              </a:rPr>
              <a:t>Expanded</a:t>
            </a:r>
            <a:r>
              <a:rPr lang="de-DE" sz="1800" b="1" dirty="0">
                <a:latin typeface="+mn-lt"/>
              </a:rPr>
              <a:t> Model Scale: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Testing</a:t>
            </a:r>
            <a:r>
              <a:rPr lang="de-DE" sz="1800" dirty="0">
                <a:latin typeface="+mn-lt"/>
              </a:rPr>
              <a:t> open-source </a:t>
            </a:r>
            <a:r>
              <a:rPr lang="de-DE" sz="1800" dirty="0" err="1">
                <a:latin typeface="+mn-lt"/>
              </a:rPr>
              <a:t>weights</a:t>
            </a:r>
            <a:r>
              <a:rPr lang="de-DE" sz="1800" dirty="0">
                <a:latin typeface="+mn-lt"/>
              </a:rPr>
              <a:t> (e.g., Llama-3-70B, Mistral, DeepSeek) </a:t>
            </a:r>
            <a:r>
              <a:rPr lang="de-DE" sz="1800" dirty="0" err="1">
                <a:latin typeface="+mn-lt"/>
              </a:rPr>
              <a:t>under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identical</a:t>
            </a:r>
            <a:r>
              <a:rPr lang="de-DE" sz="1800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data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texture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conditions</a:t>
            </a:r>
            <a:r>
              <a:rPr lang="de-DE" sz="1800" dirty="0">
                <a:latin typeface="+mn-lt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800" b="1" dirty="0">
                <a:latin typeface="+mn-lt"/>
              </a:rPr>
              <a:t>Multi-Modal </a:t>
            </a:r>
            <a:r>
              <a:rPr lang="de-DE" sz="1800" b="1" dirty="0" err="1">
                <a:latin typeface="+mn-lt"/>
              </a:rPr>
              <a:t>Textures</a:t>
            </a:r>
            <a:r>
              <a:rPr lang="de-DE" sz="1800" b="1" dirty="0">
                <a:latin typeface="+mn-lt"/>
              </a:rPr>
              <a:t>: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Evaluating</a:t>
            </a:r>
            <a:r>
              <a:rPr lang="de-DE" sz="1800" dirty="0">
                <a:latin typeface="+mn-lt"/>
              </a:rPr>
              <a:t> OCR-</a:t>
            </a:r>
            <a:r>
              <a:rPr lang="de-DE" sz="1800" dirty="0" err="1">
                <a:latin typeface="+mn-lt"/>
              </a:rPr>
              <a:t>extracted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handwritten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documents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alongside</a:t>
            </a:r>
            <a:r>
              <a:rPr lang="de-DE" sz="1800" dirty="0">
                <a:latin typeface="+mn-lt"/>
              </a:rPr>
              <a:t> native </a:t>
            </a:r>
            <a:r>
              <a:rPr lang="de-DE" sz="1800" dirty="0" err="1">
                <a:latin typeface="+mn-lt"/>
              </a:rPr>
              <a:t>text</a:t>
            </a:r>
            <a:r>
              <a:rPr lang="de-DE" sz="1800" dirty="0">
                <a:latin typeface="+mn-lt"/>
              </a:rPr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sz="1800" b="1" dirty="0" err="1">
                <a:latin typeface="+mn-lt"/>
              </a:rPr>
              <a:t>Automated</a:t>
            </a:r>
            <a:r>
              <a:rPr lang="de-DE" sz="1800" b="1" dirty="0">
                <a:latin typeface="+mn-lt"/>
              </a:rPr>
              <a:t> Post-Processing: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Developing</a:t>
            </a:r>
            <a:r>
              <a:rPr lang="de-DE" sz="1800" dirty="0">
                <a:latin typeface="+mn-lt"/>
              </a:rPr>
              <a:t> real-time </a:t>
            </a:r>
            <a:r>
              <a:rPr lang="de-DE" sz="1800" dirty="0" err="1">
                <a:latin typeface="+mn-lt"/>
              </a:rPr>
              <a:t>fuzzy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schema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alignment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algorithms</a:t>
            </a:r>
            <a:r>
              <a:rPr lang="de-DE" sz="1800" dirty="0">
                <a:latin typeface="+mn-lt"/>
              </a:rPr>
              <a:t> to </a:t>
            </a:r>
            <a:r>
              <a:rPr lang="de-DE" sz="1800" dirty="0" err="1">
                <a:latin typeface="+mn-lt"/>
              </a:rPr>
              <a:t>reduce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schema</a:t>
            </a:r>
            <a:r>
              <a:rPr lang="de-DE" sz="1800" dirty="0">
                <a:latin typeface="+mn-lt"/>
              </a:rPr>
              <a:t> </a:t>
            </a:r>
            <a:r>
              <a:rPr lang="de-DE" sz="1800" dirty="0" err="1">
                <a:latin typeface="+mn-lt"/>
              </a:rPr>
              <a:t>deviations</a:t>
            </a:r>
            <a:r>
              <a:rPr lang="de-DE" sz="1800" dirty="0">
                <a:latin typeface="+mn-lt"/>
              </a:rPr>
              <a:t> to 0%.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>
              <a:latin typeface="+mn-lt"/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53D96CE-570E-9920-FFAE-8540D7A803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27BDB4E-1B74-1385-1711-18E4DC1FEF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630A3CD-6E6B-84DB-7A94-4255F9C2CA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997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98C73-297C-2939-D820-C81C67BA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480" y="1526810"/>
            <a:ext cx="7578725" cy="387333"/>
          </a:xfrm>
        </p:spPr>
        <p:txBody>
          <a:bodyPr/>
          <a:lstStyle/>
          <a:p>
            <a:r>
              <a:rPr lang="de-DE" sz="2400" dirty="0">
                <a:latin typeface="+mn-lt"/>
              </a:rPr>
              <a:t>References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F67F62-9C03-DFFE-7BA5-A8D02C3E8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481" y="2099205"/>
            <a:ext cx="7578725" cy="3459171"/>
          </a:xfrm>
        </p:spPr>
        <p:txBody>
          <a:bodyPr/>
          <a:lstStyle/>
          <a:p>
            <a:r>
              <a:rPr lang="de-DE" dirty="0">
                <a:latin typeface="+mn-lt"/>
              </a:rPr>
              <a:t>[1] Nickerson, R. C., Varshney, U., &amp; Muntermann, J. (2013). A Method for </a:t>
            </a:r>
            <a:r>
              <a:rPr lang="de-DE" dirty="0" err="1">
                <a:latin typeface="+mn-lt"/>
              </a:rPr>
              <a:t>Taxonomy</a:t>
            </a:r>
            <a:r>
              <a:rPr lang="de-DE" dirty="0">
                <a:latin typeface="+mn-lt"/>
              </a:rPr>
              <a:t> Development in Information Systems. European Journal of Information Systems.</a:t>
            </a:r>
          </a:p>
          <a:p>
            <a:r>
              <a:rPr lang="de-DE" dirty="0">
                <a:latin typeface="+mn-lt"/>
              </a:rPr>
              <a:t>[2] Wei, J., Wang, X., Schuurmans, D., Bosma, M., </a:t>
            </a:r>
            <a:r>
              <a:rPr lang="de-DE" dirty="0" err="1">
                <a:latin typeface="+mn-lt"/>
              </a:rPr>
              <a:t>Ichter</a:t>
            </a:r>
            <a:r>
              <a:rPr lang="de-DE" dirty="0">
                <a:latin typeface="+mn-lt"/>
              </a:rPr>
              <a:t>, B., Xia, F., ... &amp; Le, Q. V. (2022). Chain-of-</a:t>
            </a:r>
            <a:r>
              <a:rPr lang="de-DE" dirty="0" err="1">
                <a:latin typeface="+mn-lt"/>
              </a:rPr>
              <a:t>Thought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Prompting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Elicits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Reasoning</a:t>
            </a:r>
            <a:r>
              <a:rPr lang="de-DE" dirty="0">
                <a:latin typeface="+mn-lt"/>
              </a:rPr>
              <a:t> in Large Language Models. </a:t>
            </a:r>
            <a:r>
              <a:rPr lang="de-DE" dirty="0" err="1">
                <a:latin typeface="+mn-lt"/>
              </a:rPr>
              <a:t>ArXiv</a:t>
            </a:r>
            <a:r>
              <a:rPr lang="de-DE" dirty="0">
                <a:latin typeface="+mn-lt"/>
              </a:rPr>
              <a:t>.</a:t>
            </a:r>
          </a:p>
          <a:p>
            <a:r>
              <a:rPr lang="de-DE" dirty="0">
                <a:latin typeface="+mn-lt"/>
              </a:rPr>
              <a:t>[3] Gao, L., Ma, X., Lin, J., &amp; Callan, J. (2022). Precise Zero-Shot Dense Retrieval </a:t>
            </a:r>
            <a:r>
              <a:rPr lang="de-DE" dirty="0" err="1">
                <a:latin typeface="+mn-lt"/>
              </a:rPr>
              <a:t>without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Relevance</a:t>
            </a:r>
            <a:r>
              <a:rPr lang="de-DE" dirty="0">
                <a:latin typeface="+mn-lt"/>
              </a:rPr>
              <a:t> Labels. </a:t>
            </a:r>
            <a:r>
              <a:rPr lang="de-DE" dirty="0" err="1">
                <a:latin typeface="+mn-lt"/>
              </a:rPr>
              <a:t>ArXiv</a:t>
            </a:r>
            <a:r>
              <a:rPr lang="de-DE" dirty="0">
                <a:latin typeface="+mn-lt"/>
              </a:rPr>
              <a:t>.</a:t>
            </a:r>
          </a:p>
          <a:p>
            <a:r>
              <a:rPr lang="de-DE" dirty="0">
                <a:latin typeface="+mn-lt"/>
              </a:rPr>
              <a:t>[4] Manning, C. D., Barak, O., &amp; Gupta, A. (2024). </a:t>
            </a:r>
            <a:r>
              <a:rPr lang="de-DE" dirty="0" err="1">
                <a:latin typeface="+mn-lt"/>
              </a:rPr>
              <a:t>Semantic</a:t>
            </a:r>
            <a:r>
              <a:rPr lang="de-DE" dirty="0">
                <a:latin typeface="+mn-lt"/>
              </a:rPr>
              <a:t> </a:t>
            </a:r>
            <a:r>
              <a:rPr lang="de-DE" dirty="0" err="1">
                <a:latin typeface="+mn-lt"/>
              </a:rPr>
              <a:t>Compression</a:t>
            </a:r>
            <a:r>
              <a:rPr lang="de-DE" dirty="0">
                <a:latin typeface="+mn-lt"/>
              </a:rPr>
              <a:t> in Large Language Models: Limits of </a:t>
            </a:r>
            <a:r>
              <a:rPr lang="de-DE" dirty="0" err="1">
                <a:latin typeface="+mn-lt"/>
              </a:rPr>
              <a:t>Abstraction</a:t>
            </a:r>
            <a:r>
              <a:rPr lang="de-DE" dirty="0">
                <a:latin typeface="+mn-lt"/>
              </a:rPr>
              <a:t> Under Token Constraints. </a:t>
            </a:r>
            <a:r>
              <a:rPr lang="de-DE" dirty="0" err="1">
                <a:latin typeface="+mn-lt"/>
              </a:rPr>
              <a:t>ArXiv</a:t>
            </a:r>
            <a:r>
              <a:rPr lang="de-DE" dirty="0">
                <a:latin typeface="+mn-lt"/>
              </a:rPr>
              <a:t>.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165F840-DF3A-4727-205B-CEACE1BABA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ACBCC6F-0190-63DB-DBB1-1CDC3BBCD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FA993FD-2E4D-E275-1222-610ABED288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441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7BBB68-239E-E2F6-8C6E-9E7F8D3BE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3539" y="3385133"/>
            <a:ext cx="3756074" cy="1700831"/>
          </a:xfrm>
        </p:spPr>
        <p:txBody>
          <a:bodyPr/>
          <a:lstStyle/>
          <a:p>
            <a:r>
              <a:rPr lang="de-DE" sz="4800" b="1" dirty="0" err="1">
                <a:solidFill>
                  <a:srgbClr val="002060"/>
                </a:solidFill>
                <a:latin typeface="+mn-lt"/>
              </a:rPr>
              <a:t>Thank</a:t>
            </a:r>
            <a:r>
              <a:rPr lang="de-DE" sz="48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de-DE" sz="4800" b="1" dirty="0" err="1">
                <a:solidFill>
                  <a:srgbClr val="002060"/>
                </a:solidFill>
                <a:latin typeface="+mn-lt"/>
              </a:rPr>
              <a:t>you</a:t>
            </a:r>
            <a:endParaRPr lang="de-DE" sz="48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9D50AC-169E-EC96-16A0-49A25C1FFED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r>
              <a:rPr lang="de-DE"/>
              <a:t>31.07.2026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7A7C3A-90DE-2B07-F24E-9BB5D8821D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de-DE"/>
              <a:t>©  2026  UNIVERSITÄT ROSTOCK | FAKULTÄT FÜR INFORMATIK UND ELEKTROTECHNIK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20435757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ät">
  <a:themeElements>
    <a:clrScheme name="Fakultät für Informatik und Elektronik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3B4"/>
      </a:accent1>
      <a:accent2>
        <a:srgbClr val="19ACBB"/>
      </a:accent2>
      <a:accent3>
        <a:srgbClr val="33B5C3"/>
      </a:accent3>
      <a:accent4>
        <a:srgbClr val="4DBFCA"/>
      </a:accent4>
      <a:accent5>
        <a:srgbClr val="39C8D2"/>
      </a:accent5>
      <a:accent6>
        <a:srgbClr val="80D1D9"/>
      </a:accent6>
      <a:hlink>
        <a:srgbClr val="99DAE1"/>
      </a:hlink>
      <a:folHlink>
        <a:srgbClr val="B3E3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sehr viel Text">
  <a:themeElements>
    <a:clrScheme name="Fakultät für Informatik und Elektronik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3B4"/>
      </a:accent1>
      <a:accent2>
        <a:srgbClr val="19ACBB"/>
      </a:accent2>
      <a:accent3>
        <a:srgbClr val="33B5C3"/>
      </a:accent3>
      <a:accent4>
        <a:srgbClr val="4DBFCA"/>
      </a:accent4>
      <a:accent5>
        <a:srgbClr val="39C8D2"/>
      </a:accent5>
      <a:accent6>
        <a:srgbClr val="80D1D9"/>
      </a:accent6>
      <a:hlink>
        <a:srgbClr val="99DAE1"/>
      </a:hlink>
      <a:folHlink>
        <a:srgbClr val="B3E3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1116</Words>
  <Application>Microsoft Office PowerPoint</Application>
  <PresentationFormat>Bildschirmpräsentation (4:3)</PresentationFormat>
  <Paragraphs>142</Paragraphs>
  <Slides>15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15</vt:i4>
      </vt:variant>
    </vt:vector>
  </HeadingPairs>
  <TitlesOfParts>
    <vt:vector size="28" baseType="lpstr">
      <vt:lpstr>Arial</vt:lpstr>
      <vt:lpstr>Arial Narrow</vt:lpstr>
      <vt:lpstr>Calibri</vt:lpstr>
      <vt:lpstr>Calibri Light</vt:lpstr>
      <vt:lpstr>Noto Sans Symbols</vt:lpstr>
      <vt:lpstr>Times New Roman</vt:lpstr>
      <vt:lpstr>Verdana</vt:lpstr>
      <vt:lpstr>Universität</vt:lpstr>
      <vt:lpstr>1_Benutzerdefiniertes Design</vt:lpstr>
      <vt:lpstr>2_Benutzerdefiniertes Design</vt:lpstr>
      <vt:lpstr>3_Benutzerdefiniertes Design</vt:lpstr>
      <vt:lpstr>Benutzerdefiniertes Design</vt:lpstr>
      <vt:lpstr>sehr viel Text</vt:lpstr>
      <vt:lpstr>LLM-based Generation of Product Classifications   </vt:lpstr>
      <vt:lpstr>Human vs Machine</vt:lpstr>
      <vt:lpstr>Why the B2B Software Domain Matters</vt:lpstr>
      <vt:lpstr>Semantic Ambiguity Problem</vt:lpstr>
      <vt:lpstr>Presentation Roadmap</vt:lpstr>
      <vt:lpstr>Theoretical Foundations </vt:lpstr>
      <vt:lpstr>Methodological Design &amp; Data Engine</vt:lpstr>
      <vt:lpstr>Empirical Benchmark: Comprehensive Model Performance</vt:lpstr>
      <vt:lpstr>Collective Exhaustiveness Under Stress</vt:lpstr>
      <vt:lpstr>Word Count Analysis: Measuring Semantic Bloat</vt:lpstr>
      <vt:lpstr>Mapping the Pareto Frontier: Omission vs. Length</vt:lpstr>
      <vt:lpstr>What If We Deploy This Tomorrow? </vt:lpstr>
      <vt:lpstr>Limitations &amp; 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Nuzhat Sheikh</cp:lastModifiedBy>
  <cp:revision>18</cp:revision>
  <dcterms:modified xsi:type="dcterms:W3CDTF">2026-08-27T14:36:48Z</dcterms:modified>
</cp:coreProperties>
</file>